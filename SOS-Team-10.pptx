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34"/>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Lst>
  <p:sldSz cx="9753600" cy="7315200"/>
  <p:notesSz cx="6858000" cy="9144000"/>
  <p:embeddedFontLst>
    <p:embeddedFont>
      <p:font typeface="Times New Roman Bold" charset="1" panose="02020803070505020304"/>
      <p:regular r:id="rId31"/>
    </p:embeddedFont>
    <p:embeddedFont>
      <p:font typeface="Times New Roman" charset="1" panose="02020603050405020304"/>
      <p:regular r:id="rId32"/>
    </p:embeddedFont>
    <p:embeddedFont>
      <p:font typeface="Calibri (MS)" charset="1" panose="020F0502020204030204"/>
      <p:regular r:id="rId33"/>
    </p:embeddedFont>
    <p:embeddedFont>
      <p:font typeface="Arial" charset="1" panose="020B0604020202020204"/>
      <p:regular r:id="rId37"/>
    </p:embeddedFont>
    <p:embeddedFont>
      <p:font typeface="Arial Bold" charset="1" panose="020B0704020202020204"/>
      <p:regular r:id="rId38"/>
    </p:embeddedFont>
    <p:embeddedFont>
      <p:font typeface="Calibri (MS) Bold" charset="1" panose="020F0702030404030204"/>
      <p:regular r:id="rId39"/>
    </p:embeddedFont>
    <p:embeddedFont>
      <p:font typeface="Calibri (MS) Bold Italics" charset="1" panose="020F07020304040A0204"/>
      <p:regular r:id="rId40"/>
    </p:embeddedFont>
    <p:embeddedFont>
      <p:font typeface="Arial Italics" charset="1" panose="020B0604020202090204"/>
      <p:regular r:id="rId41"/>
    </p:embeddedFont>
    <p:embeddedFont>
      <p:font typeface="Arial Bold Italics" charset="1" panose="020B0704020202090204"/>
      <p:regular r:id="rId4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fonts/font31.fntdata" Type="http://schemas.openxmlformats.org/officeDocument/2006/relationships/font"/><Relationship Id="rId32" Target="fonts/font32.fntdata" Type="http://schemas.openxmlformats.org/officeDocument/2006/relationships/font"/><Relationship Id="rId33" Target="fonts/font33.fntdata" Type="http://schemas.openxmlformats.org/officeDocument/2006/relationships/font"/><Relationship Id="rId34" Target="notesMasters/notesMaster1.xml" Type="http://schemas.openxmlformats.org/officeDocument/2006/relationships/notesMaster"/><Relationship Id="rId35" Target="theme/theme2.xml" Type="http://schemas.openxmlformats.org/officeDocument/2006/relationships/theme"/><Relationship Id="rId36" Target="notesSlides/notesSlide1.xml" Type="http://schemas.openxmlformats.org/officeDocument/2006/relationships/notesSlide"/><Relationship Id="rId37" Target="fonts/font37.fntdata" Type="http://schemas.openxmlformats.org/officeDocument/2006/relationships/font"/><Relationship Id="rId38" Target="fonts/font38.fntdata" Type="http://schemas.openxmlformats.org/officeDocument/2006/relationships/font"/><Relationship Id="rId39" Target="fonts/font39.fntdata" Type="http://schemas.openxmlformats.org/officeDocument/2006/relationships/font"/><Relationship Id="rId4" Target="theme/theme1.xml" Type="http://schemas.openxmlformats.org/officeDocument/2006/relationships/theme"/><Relationship Id="rId40" Target="fonts/font40.fntdata" Type="http://schemas.openxmlformats.org/officeDocument/2006/relationships/font"/><Relationship Id="rId41" Target="fonts/font41.fntdata" Type="http://schemas.openxmlformats.org/officeDocument/2006/relationships/font"/><Relationship Id="rId42" Target="fonts/font42.fntdata" Type="http://schemas.openxmlformats.org/officeDocument/2006/relationships/font"/><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&lt;number&gt;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jpeg" Type="http://schemas.openxmlformats.org/officeDocument/2006/relationships/image"/><Relationship Id="rId4" Target="../media/image3.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 Id="rId4" Target="../media/image5.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 Id="rId4" Target="../media/image6.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 Id="rId4" Target="../media/image7.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8.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8.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8.png" Type="http://schemas.openxmlformats.org/officeDocument/2006/relationships/image"/><Relationship Id="rId4" Target="../media/image9.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10.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8.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8.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1.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2.png" Type="http://schemas.openxmlformats.org/officeDocument/2006/relationships/image"/><Relationship Id="rId4" Target="../media/image8.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8.png" Type="http://schemas.openxmlformats.org/officeDocument/2006/relationships/image"/><Relationship Id="rId4" Target="../media/image13.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8.png" Type="http://schemas.openxmlformats.org/officeDocument/2006/relationships/image"/><Relationship Id="rId4" Target="../media/image14.jpe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8.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8.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8.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8.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31520" y="1495892"/>
            <a:ext cx="8444541" cy="2966780"/>
            <a:chOff x="0" y="0"/>
            <a:chExt cx="11259388" cy="3955707"/>
          </a:xfrm>
        </p:grpSpPr>
        <p:sp>
          <p:nvSpPr>
            <p:cNvPr name="Freeform 3" id="3"/>
            <p:cNvSpPr/>
            <p:nvPr/>
          </p:nvSpPr>
          <p:spPr>
            <a:xfrm flipH="false" flipV="false" rot="0">
              <a:off x="0" y="0"/>
              <a:ext cx="11259392" cy="3955712"/>
            </a:xfrm>
            <a:custGeom>
              <a:avLst/>
              <a:gdLst/>
              <a:ahLst/>
              <a:cxnLst/>
              <a:rect r="r" b="b" t="t" l="l"/>
              <a:pathLst>
                <a:path h="3955712" w="11259392">
                  <a:moveTo>
                    <a:pt x="0" y="0"/>
                  </a:moveTo>
                  <a:lnTo>
                    <a:pt x="11259392" y="0"/>
                  </a:lnTo>
                  <a:lnTo>
                    <a:pt x="11259392" y="3955712"/>
                  </a:lnTo>
                  <a:lnTo>
                    <a:pt x="0" y="3955712"/>
                  </a:lnTo>
                  <a:close/>
                </a:path>
              </a:pathLst>
            </a:custGeom>
            <a:blipFill>
              <a:blip r:embed="rId2">
                <a:alphaModFix amt="0"/>
              </a:blip>
              <a:stretch>
                <a:fillRect l="0" t="-5461" r="0" b="-5461"/>
              </a:stretch>
            </a:blipFill>
          </p:spPr>
        </p:sp>
        <p:sp>
          <p:nvSpPr>
            <p:cNvPr name="TextBox 4" id="4"/>
            <p:cNvSpPr txBox="true"/>
            <p:nvPr/>
          </p:nvSpPr>
          <p:spPr>
            <a:xfrm>
              <a:off x="0" y="-28575"/>
              <a:ext cx="11259388" cy="3984282"/>
            </a:xfrm>
            <a:prstGeom prst="rect">
              <a:avLst/>
            </a:prstGeom>
          </p:spPr>
          <p:txBody>
            <a:bodyPr anchor="ctr" rtlCol="false" tIns="0" lIns="0" bIns="0" rIns="0"/>
            <a:lstStyle/>
            <a:p>
              <a:pPr algn="ctr">
                <a:lnSpc>
                  <a:spcPts val="3840"/>
                </a:lnSpc>
              </a:pPr>
              <a:r>
                <a:rPr lang="en-US" sz="3200" b="true">
                  <a:solidFill>
                    <a:srgbClr val="FF0066"/>
                  </a:solidFill>
                  <a:latin typeface="Times New Roman Bold"/>
                  <a:ea typeface="Times New Roman Bold"/>
                  <a:cs typeface="Times New Roman Bold"/>
                  <a:sym typeface="Times New Roman Bold"/>
                </a:rPr>
                <a:t>Kalasalingam Academy of Research and Education</a:t>
              </a:r>
            </a:p>
            <a:p>
              <a:pPr algn="ctr">
                <a:lnSpc>
                  <a:spcPts val="2304"/>
                </a:lnSpc>
              </a:pPr>
              <a:r>
                <a:rPr lang="en-US" sz="1920" b="true">
                  <a:solidFill>
                    <a:srgbClr val="00B0F0"/>
                  </a:solidFill>
                  <a:latin typeface="Times New Roman Bold"/>
                  <a:ea typeface="Times New Roman Bold"/>
                  <a:cs typeface="Times New Roman Bold"/>
                  <a:sym typeface="Times New Roman Bold"/>
                </a:rPr>
                <a:t>Anand Nagar, Krishnan koil</a:t>
              </a:r>
            </a:p>
            <a:p>
              <a:pPr algn="ctr">
                <a:lnSpc>
                  <a:spcPts val="3071"/>
                </a:lnSpc>
              </a:pPr>
              <a:r>
                <a:rPr lang="en-US" sz="2559" b="true">
                  <a:solidFill>
                    <a:srgbClr val="00B050"/>
                  </a:solidFill>
                  <a:latin typeface="Times New Roman Bold"/>
                  <a:ea typeface="Times New Roman Bold"/>
                  <a:cs typeface="Times New Roman Bold"/>
                  <a:sym typeface="Times New Roman Bold"/>
                </a:rPr>
                <a:t>Department of Computer Science and Engineering</a:t>
              </a:r>
            </a:p>
            <a:p>
              <a:pPr algn="ctr">
                <a:lnSpc>
                  <a:spcPts val="3071"/>
                </a:lnSpc>
              </a:pPr>
              <a:r>
                <a:rPr lang="en-US" sz="2559">
                  <a:solidFill>
                    <a:srgbClr val="000000"/>
                  </a:solidFill>
                  <a:latin typeface="Times New Roman"/>
                  <a:ea typeface="Times New Roman"/>
                  <a:cs typeface="Times New Roman"/>
                  <a:sym typeface="Times New Roman"/>
                </a:rPr>
                <a:t>CSE220 - </a:t>
              </a:r>
              <a:r>
                <a:rPr lang="en-US" sz="2559" b="true">
                  <a:solidFill>
                    <a:srgbClr val="0070C0"/>
                  </a:solidFill>
                  <a:latin typeface="Times New Roman Bold"/>
                  <a:ea typeface="Times New Roman Bold"/>
                  <a:cs typeface="Times New Roman Bold"/>
                  <a:sym typeface="Times New Roman Bold"/>
                </a:rPr>
                <a:t>Multimodal AI Systems</a:t>
              </a:r>
            </a:p>
            <a:p>
              <a:pPr algn="ctr">
                <a:lnSpc>
                  <a:spcPts val="2304"/>
                </a:lnSpc>
              </a:pPr>
              <a:r>
                <a:rPr lang="en-US" sz="1920" b="true">
                  <a:solidFill>
                    <a:srgbClr val="000000"/>
                  </a:solidFill>
                  <a:latin typeface="Times New Roman Bold"/>
                  <a:ea typeface="Times New Roman Bold"/>
                  <a:cs typeface="Times New Roman Bold"/>
                  <a:sym typeface="Times New Roman Bold"/>
                </a:rPr>
                <a:t>DATE:</a:t>
              </a:r>
            </a:p>
            <a:p>
              <a:pPr algn="ctr">
                <a:lnSpc>
                  <a:spcPts val="2304"/>
                </a:lnSpc>
              </a:pPr>
            </a:p>
            <a:p>
              <a:pPr algn="ctr">
                <a:lnSpc>
                  <a:spcPts val="2304"/>
                </a:lnSpc>
              </a:pPr>
            </a:p>
            <a:p>
              <a:pPr algn="ctr">
                <a:lnSpc>
                  <a:spcPts val="3583"/>
                </a:lnSpc>
              </a:pPr>
              <a:r>
                <a:rPr lang="en-US" sz="2986" b="true">
                  <a:solidFill>
                    <a:srgbClr val="002060"/>
                  </a:solidFill>
                  <a:latin typeface="Times New Roman Bold"/>
                  <a:ea typeface="Times New Roman Bold"/>
                  <a:cs typeface="Times New Roman Bold"/>
                  <a:sym typeface="Times New Roman Bold"/>
                </a:rPr>
                <a:t>E</a:t>
              </a:r>
              <a:r>
                <a:rPr lang="en-US" sz="2986" b="true">
                  <a:solidFill>
                    <a:srgbClr val="000000"/>
                  </a:solidFill>
                  <a:latin typeface="Times New Roman Bold"/>
                  <a:ea typeface="Times New Roman Bold"/>
                  <a:cs typeface="Times New Roman Bold"/>
                  <a:sym typeface="Times New Roman Bold"/>
                </a:rPr>
                <a:t>dge-powered multimodal context aware emergency Triage system using deep learning and social temporal data synthesis for automated incident prioritization </a:t>
              </a:r>
            </a:p>
            <a:p>
              <a:pPr algn="ctr">
                <a:lnSpc>
                  <a:spcPts val="3583"/>
                </a:lnSpc>
              </a:pPr>
              <a:r>
                <a:rPr lang="en-US" sz="2986" b="true">
                  <a:solidFill>
                    <a:srgbClr val="000000"/>
                  </a:solidFill>
                  <a:latin typeface="Times New Roman Bold"/>
                  <a:ea typeface="Times New Roman Bold"/>
                  <a:cs typeface="Times New Roman Bold"/>
                  <a:sym typeface="Times New Roman Bold"/>
                </a:rPr>
                <a:t>                                                                      </a:t>
              </a:r>
            </a:p>
            <a:p>
              <a:pPr algn="ctr">
                <a:lnSpc>
                  <a:spcPts val="2304"/>
                </a:lnSpc>
              </a:pPr>
            </a:p>
            <a:p>
              <a:pPr algn="ctr">
                <a:lnSpc>
                  <a:spcPts val="2304"/>
                </a:lnSpc>
              </a:pPr>
            </a:p>
            <a:p>
              <a:pPr algn="ctr">
                <a:lnSpc>
                  <a:spcPts val="2304"/>
                </a:lnSpc>
              </a:pPr>
            </a:p>
            <a:p>
              <a:pPr algn="ctr">
                <a:lnSpc>
                  <a:spcPts val="2304"/>
                </a:lnSpc>
              </a:pPr>
            </a:p>
            <a:p>
              <a:pPr algn="ctr">
                <a:lnSpc>
                  <a:spcPts val="2304"/>
                </a:lnSpc>
              </a:pPr>
            </a:p>
            <a:p>
              <a:pPr algn="ctr">
                <a:lnSpc>
                  <a:spcPts val="3583"/>
                </a:lnSpc>
              </a:pPr>
            </a:p>
          </p:txBody>
        </p:sp>
      </p:grpSp>
      <p:sp>
        <p:nvSpPr>
          <p:cNvPr name="TextBox 5" id="5"/>
          <p:cNvSpPr txBox="true"/>
          <p:nvPr/>
        </p:nvSpPr>
        <p:spPr>
          <a:xfrm rot="0">
            <a:off x="7283282" y="6323305"/>
            <a:ext cx="3477597" cy="991895"/>
          </a:xfrm>
          <a:prstGeom prst="rect">
            <a:avLst/>
          </a:prstGeom>
        </p:spPr>
        <p:txBody>
          <a:bodyPr anchor="t" rtlCol="false" tIns="0" lIns="0" bIns="0" rIns="0">
            <a:spAutoFit/>
          </a:bodyPr>
          <a:lstStyle/>
          <a:p>
            <a:pPr algn="l">
              <a:lnSpc>
                <a:spcPts val="2560"/>
              </a:lnSpc>
            </a:pPr>
            <a:r>
              <a:rPr lang="en-US" sz="2133" b="true">
                <a:solidFill>
                  <a:srgbClr val="E46C0A"/>
                </a:solidFill>
                <a:latin typeface="Times New Roman Bold"/>
                <a:ea typeface="Times New Roman Bold"/>
                <a:cs typeface="Times New Roman Bold"/>
                <a:sym typeface="Times New Roman Bold"/>
              </a:rPr>
              <a:t>Dr. R. Raja Sekar,</a:t>
            </a:r>
          </a:p>
          <a:p>
            <a:pPr algn="l">
              <a:lnSpc>
                <a:spcPts val="2560"/>
              </a:lnSpc>
            </a:pPr>
            <a:r>
              <a:rPr lang="en-US" sz="2133" b="true">
                <a:solidFill>
                  <a:srgbClr val="E46C0A"/>
                </a:solidFill>
                <a:latin typeface="Times New Roman Bold"/>
                <a:ea typeface="Times New Roman Bold"/>
                <a:cs typeface="Times New Roman Bold"/>
                <a:sym typeface="Times New Roman Bold"/>
              </a:rPr>
              <a:t>Associate Professor</a:t>
            </a:r>
          </a:p>
          <a:p>
            <a:pPr algn="l">
              <a:lnSpc>
                <a:spcPts val="2560"/>
              </a:lnSpc>
            </a:pPr>
            <a:r>
              <a:rPr lang="en-US" sz="2133" b="true">
                <a:solidFill>
                  <a:srgbClr val="E46C0A"/>
                </a:solidFill>
                <a:latin typeface="Times New Roman Bold"/>
                <a:ea typeface="Times New Roman Bold"/>
                <a:cs typeface="Times New Roman Bold"/>
                <a:sym typeface="Times New Roman Bold"/>
              </a:rPr>
              <a:t>KARE.</a:t>
            </a:r>
          </a:p>
        </p:txBody>
      </p:sp>
      <p:grpSp>
        <p:nvGrpSpPr>
          <p:cNvPr name="Group 6" id="6"/>
          <p:cNvGrpSpPr/>
          <p:nvPr/>
        </p:nvGrpSpPr>
        <p:grpSpPr>
          <a:xfrm rot="0">
            <a:off x="4423992" y="535118"/>
            <a:ext cx="1059597" cy="960775"/>
            <a:chOff x="0" y="0"/>
            <a:chExt cx="966140" cy="876033"/>
          </a:xfrm>
        </p:grpSpPr>
        <p:sp>
          <p:nvSpPr>
            <p:cNvPr name="Freeform 7" id="7"/>
            <p:cNvSpPr/>
            <p:nvPr/>
          </p:nvSpPr>
          <p:spPr>
            <a:xfrm flipH="false" flipV="false" rot="0">
              <a:off x="0" y="0"/>
              <a:ext cx="966089" cy="876046"/>
            </a:xfrm>
            <a:custGeom>
              <a:avLst/>
              <a:gdLst/>
              <a:ahLst/>
              <a:cxnLst/>
              <a:rect r="r" b="b" t="t" l="l"/>
              <a:pathLst>
                <a:path h="876046" w="966089">
                  <a:moveTo>
                    <a:pt x="0" y="0"/>
                  </a:moveTo>
                  <a:lnTo>
                    <a:pt x="966089" y="0"/>
                  </a:lnTo>
                  <a:lnTo>
                    <a:pt x="966089" y="876046"/>
                  </a:lnTo>
                  <a:lnTo>
                    <a:pt x="0" y="876046"/>
                  </a:lnTo>
                  <a:lnTo>
                    <a:pt x="0" y="0"/>
                  </a:lnTo>
                  <a:close/>
                </a:path>
              </a:pathLst>
            </a:custGeom>
            <a:blipFill>
              <a:blip r:embed="rId3"/>
              <a:stretch>
                <a:fillRect l="-237" t="0" r="-243" b="1"/>
              </a:stretch>
            </a:blipFill>
          </p:spPr>
        </p:sp>
      </p:grpSp>
      <p:sp>
        <p:nvSpPr>
          <p:cNvPr name="TextBox 8" id="8"/>
          <p:cNvSpPr txBox="true"/>
          <p:nvPr/>
        </p:nvSpPr>
        <p:spPr>
          <a:xfrm rot="0">
            <a:off x="2101226" y="4578601"/>
            <a:ext cx="5551147" cy="1628775"/>
          </a:xfrm>
          <a:prstGeom prst="rect">
            <a:avLst/>
          </a:prstGeom>
        </p:spPr>
        <p:txBody>
          <a:bodyPr anchor="t" rtlCol="false" tIns="0" lIns="0" bIns="0" rIns="0">
            <a:spAutoFit/>
          </a:bodyPr>
          <a:lstStyle/>
          <a:p>
            <a:pPr algn="ctr">
              <a:lnSpc>
                <a:spcPts val="2559"/>
              </a:lnSpc>
            </a:pPr>
            <a:r>
              <a:rPr lang="en-US" sz="2133" b="true">
                <a:solidFill>
                  <a:srgbClr val="000000"/>
                </a:solidFill>
                <a:latin typeface="Times New Roman Bold"/>
                <a:ea typeface="Times New Roman Bold"/>
                <a:cs typeface="Times New Roman Bold"/>
                <a:sym typeface="Times New Roman Bold"/>
              </a:rPr>
              <a:t>99250040619 - Vigneas Swagat N S (Team Lead)</a:t>
            </a:r>
          </a:p>
          <a:p>
            <a:pPr algn="l">
              <a:lnSpc>
                <a:spcPts val="2559"/>
              </a:lnSpc>
            </a:pPr>
            <a:r>
              <a:rPr lang="en-US" sz="2133" b="true">
                <a:solidFill>
                  <a:srgbClr val="000000"/>
                </a:solidFill>
                <a:latin typeface="Times New Roman Bold"/>
                <a:ea typeface="Times New Roman Bold"/>
                <a:cs typeface="Times New Roman Bold"/>
                <a:sym typeface="Times New Roman Bold"/>
              </a:rPr>
              <a:t>9925001039 - Vaishnavi R S </a:t>
            </a:r>
          </a:p>
          <a:p>
            <a:pPr algn="l">
              <a:lnSpc>
                <a:spcPts val="2559"/>
              </a:lnSpc>
            </a:pPr>
            <a:r>
              <a:rPr lang="en-US" sz="2133" b="true">
                <a:solidFill>
                  <a:srgbClr val="000000"/>
                </a:solidFill>
                <a:latin typeface="Times New Roman Bold"/>
                <a:ea typeface="Times New Roman Bold"/>
                <a:cs typeface="Times New Roman Bold"/>
                <a:sym typeface="Times New Roman Bold"/>
              </a:rPr>
              <a:t>9925001025 - Hansha V</a:t>
            </a:r>
          </a:p>
          <a:p>
            <a:pPr algn="l">
              <a:lnSpc>
                <a:spcPts val="2559"/>
              </a:lnSpc>
            </a:pPr>
            <a:r>
              <a:rPr lang="en-US" sz="2133" b="true">
                <a:solidFill>
                  <a:srgbClr val="000000"/>
                </a:solidFill>
                <a:latin typeface="Times New Roman Bold"/>
                <a:ea typeface="Times New Roman Bold"/>
                <a:cs typeface="Times New Roman Bold"/>
                <a:sym typeface="Times New Roman Bold"/>
              </a:rPr>
              <a:t>99250040620 - Vinu Raghav R S</a:t>
            </a:r>
          </a:p>
          <a:p>
            <a:pPr algn="l">
              <a:lnSpc>
                <a:spcPts val="2559"/>
              </a:lnSpc>
              <a:spcBef>
                <a:spcPct val="0"/>
              </a:spcBef>
            </a:pPr>
            <a:r>
              <a:rPr lang="en-US" b="true" sz="2133">
                <a:solidFill>
                  <a:srgbClr val="000000"/>
                </a:solidFill>
                <a:latin typeface="Times New Roman Bold"/>
                <a:ea typeface="Times New Roman Bold"/>
                <a:cs typeface="Times New Roman Bold"/>
                <a:sym typeface="Times New Roman Bold"/>
              </a:rPr>
              <a:t>9925001060 - Jivedev D</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87680" y="292608"/>
            <a:ext cx="8778240" cy="1219200"/>
            <a:chOff x="0" y="0"/>
            <a:chExt cx="11704320" cy="1625600"/>
          </a:xfrm>
        </p:grpSpPr>
        <p:sp>
          <p:nvSpPr>
            <p:cNvPr name="Freeform 3" id="3"/>
            <p:cNvSpPr/>
            <p:nvPr/>
          </p:nvSpPr>
          <p:spPr>
            <a:xfrm flipH="false" flipV="false" rot="0">
              <a:off x="0" y="0"/>
              <a:ext cx="11704320" cy="1625600"/>
            </a:xfrm>
            <a:custGeom>
              <a:avLst/>
              <a:gdLst/>
              <a:ahLst/>
              <a:cxnLst/>
              <a:rect r="r" b="b" t="t" l="l"/>
              <a:pathLst>
                <a:path h="1625600" w="11704320">
                  <a:moveTo>
                    <a:pt x="0" y="0"/>
                  </a:moveTo>
                  <a:lnTo>
                    <a:pt x="11704320" y="0"/>
                  </a:lnTo>
                  <a:lnTo>
                    <a:pt x="11704320" y="1625600"/>
                  </a:lnTo>
                  <a:lnTo>
                    <a:pt x="0" y="1625600"/>
                  </a:lnTo>
                  <a:close/>
                </a:path>
              </a:pathLst>
            </a:custGeom>
            <a:blipFill>
              <a:blip r:embed="rId2">
                <a:alphaModFix amt="0"/>
              </a:blip>
              <a:stretch>
                <a:fillRect l="0" t="-90292" r="0" b="-90292"/>
              </a:stretch>
            </a:blipFill>
          </p:spPr>
        </p:sp>
        <p:sp>
          <p:nvSpPr>
            <p:cNvPr name="TextBox 4" id="4"/>
            <p:cNvSpPr txBox="true"/>
            <p:nvPr/>
          </p:nvSpPr>
          <p:spPr>
            <a:xfrm>
              <a:off x="0" y="-19050"/>
              <a:ext cx="11704320" cy="1644650"/>
            </a:xfrm>
            <a:prstGeom prst="rect">
              <a:avLst/>
            </a:prstGeom>
          </p:spPr>
          <p:txBody>
            <a:bodyPr anchor="ctr" rtlCol="false" tIns="0" lIns="0" bIns="0" rIns="0"/>
            <a:lstStyle/>
            <a:p>
              <a:pPr algn="ctr">
                <a:lnSpc>
                  <a:spcPts val="5120"/>
                </a:lnSpc>
              </a:pPr>
              <a:r>
                <a:rPr lang="en-US" sz="4266" b="true">
                  <a:solidFill>
                    <a:srgbClr val="FF0000"/>
                  </a:solidFill>
                  <a:latin typeface="Times New Roman Bold"/>
                  <a:ea typeface="Times New Roman Bold"/>
                  <a:cs typeface="Times New Roman Bold"/>
                  <a:sym typeface="Times New Roman Bold"/>
                </a:rPr>
                <a:t>Problem Statement</a:t>
              </a:r>
            </a:p>
            <a:p>
              <a:pPr algn="ctr">
                <a:lnSpc>
                  <a:spcPts val="5120"/>
                </a:lnSpc>
              </a:pPr>
            </a:p>
          </p:txBody>
        </p:sp>
      </p:grpSp>
      <p:sp>
        <p:nvSpPr>
          <p:cNvPr name="TextBox 5" id="5"/>
          <p:cNvSpPr txBox="true"/>
          <p:nvPr/>
        </p:nvSpPr>
        <p:spPr>
          <a:xfrm rot="0">
            <a:off x="335280" y="1053695"/>
            <a:ext cx="9083040" cy="5797296"/>
          </a:xfrm>
          <a:prstGeom prst="rect">
            <a:avLst/>
          </a:prstGeom>
        </p:spPr>
        <p:txBody>
          <a:bodyPr anchor="t" rtlCol="false" tIns="0" lIns="0" bIns="0" rIns="0">
            <a:spAutoFit/>
          </a:bodyPr>
          <a:lstStyle/>
          <a:p>
            <a:pPr algn="just" marL="253955" indent="-126977" lvl="1">
              <a:lnSpc>
                <a:spcPts val="3196"/>
              </a:lnSpc>
              <a:buFont typeface="Arial"/>
              <a:buChar char="•"/>
            </a:pPr>
            <a:r>
              <a:rPr lang="en-US" sz="1973">
                <a:solidFill>
                  <a:srgbClr val="000000"/>
                </a:solidFill>
                <a:latin typeface="Times New Roman"/>
                <a:ea typeface="Times New Roman"/>
                <a:cs typeface="Times New Roman"/>
                <a:sym typeface="Times New Roman"/>
              </a:rPr>
              <a:t>During critical emergencies, victims often lack the time, composure, or physical ability to accurately assess their surroundings and relay vital situational details to first responders. Traditional SOS applications typically rely on simple panic buttons that lack context or require manual data entry, leading to misallocated resources and delayed response times. There is a critical need for an intelligent, automated SOS system that seamlessly captures multimodal inputs—such as real-time vision, speech, and precise location—and synthesizes them with dynamic contextual data, including weather conditions and the proximity of emergency infrastructure. By autonomously evaluating this integrated data, the system must generate and dispatch an immediate, prioritized situational report to the most appropriate local authorities, minimizing user friction and accelerating targeted emergency response</a:t>
            </a:r>
          </a:p>
          <a:p>
            <a:pPr algn="just" marL="253955" indent="-126977" lvl="1">
              <a:lnSpc>
                <a:spcPts val="3196"/>
              </a:lnSpc>
            </a:pPr>
          </a:p>
          <a:p>
            <a:pPr algn="just" marL="101582" indent="-50791" lvl="1">
              <a:lnSpc>
                <a:spcPts val="681"/>
              </a:lnSpc>
            </a:pPr>
          </a:p>
          <a:p>
            <a:pPr algn="just" marL="101582" indent="-50791" lvl="1">
              <a:lnSpc>
                <a:spcPts val="681"/>
              </a:lnSpc>
            </a:pPr>
            <a:r>
              <a:rPr lang="en-US" sz="789">
                <a:solidFill>
                  <a:srgbClr val="000000"/>
                </a:solidFill>
                <a:latin typeface="Calibri (MS)"/>
                <a:ea typeface="Calibri (MS)"/>
                <a:cs typeface="Calibri (MS)"/>
                <a:sym typeface="Calibri (MS)"/>
              </a:rPr>
              <a:t> </a:t>
            </a:r>
          </a:p>
          <a:p>
            <a:pPr algn="just" marL="253955" indent="-126977" lvl="1">
              <a:lnSpc>
                <a:spcPts val="1704"/>
              </a:lnSpc>
            </a:pPr>
          </a:p>
        </p:txBody>
      </p:sp>
    </p:spTree>
  </p:cSld>
  <p:clrMapOvr>
    <a:masterClrMapping/>
  </p:clrMapOvr>
  <p:transition spd="fast">
    <p:fade/>
  </p:transition>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87680" y="21507"/>
            <a:ext cx="8778240" cy="1219200"/>
            <a:chOff x="0" y="0"/>
            <a:chExt cx="11704320" cy="1625600"/>
          </a:xfrm>
        </p:grpSpPr>
        <p:sp>
          <p:nvSpPr>
            <p:cNvPr name="Freeform 3" id="3"/>
            <p:cNvSpPr/>
            <p:nvPr/>
          </p:nvSpPr>
          <p:spPr>
            <a:xfrm flipH="false" flipV="false" rot="0">
              <a:off x="0" y="0"/>
              <a:ext cx="11704320" cy="1625600"/>
            </a:xfrm>
            <a:custGeom>
              <a:avLst/>
              <a:gdLst/>
              <a:ahLst/>
              <a:cxnLst/>
              <a:rect r="r" b="b" t="t" l="l"/>
              <a:pathLst>
                <a:path h="1625600" w="11704320">
                  <a:moveTo>
                    <a:pt x="0" y="0"/>
                  </a:moveTo>
                  <a:lnTo>
                    <a:pt x="11704320" y="0"/>
                  </a:lnTo>
                  <a:lnTo>
                    <a:pt x="11704320" y="1625600"/>
                  </a:lnTo>
                  <a:lnTo>
                    <a:pt x="0" y="1625600"/>
                  </a:lnTo>
                  <a:close/>
                </a:path>
              </a:pathLst>
            </a:custGeom>
            <a:blipFill>
              <a:blip r:embed="rId3">
                <a:alphaModFix amt="0"/>
              </a:blip>
              <a:stretch>
                <a:fillRect l="0" t="-90292" r="0" b="-90292"/>
              </a:stretch>
            </a:blipFill>
          </p:spPr>
        </p:sp>
        <p:sp>
          <p:nvSpPr>
            <p:cNvPr name="TextBox 4" id="4"/>
            <p:cNvSpPr txBox="true"/>
            <p:nvPr/>
          </p:nvSpPr>
          <p:spPr>
            <a:xfrm>
              <a:off x="0" y="-19050"/>
              <a:ext cx="11704320" cy="1644650"/>
            </a:xfrm>
            <a:prstGeom prst="rect">
              <a:avLst/>
            </a:prstGeom>
          </p:spPr>
          <p:txBody>
            <a:bodyPr anchor="ctr" rtlCol="false" tIns="0" lIns="0" bIns="0" rIns="0"/>
            <a:lstStyle/>
            <a:p>
              <a:pPr algn="ctr">
                <a:lnSpc>
                  <a:spcPts val="5120"/>
                </a:lnSpc>
              </a:pPr>
              <a:r>
                <a:rPr lang="en-US" sz="4266" b="true">
                  <a:solidFill>
                    <a:srgbClr val="FF0000"/>
                  </a:solidFill>
                  <a:latin typeface="Times New Roman Bold"/>
                  <a:ea typeface="Times New Roman Bold"/>
                  <a:cs typeface="Times New Roman Bold"/>
                  <a:sym typeface="Times New Roman Bold"/>
                </a:rPr>
                <a:t> Objectives</a:t>
              </a:r>
            </a:p>
          </p:txBody>
        </p:sp>
      </p:grpSp>
      <p:sp>
        <p:nvSpPr>
          <p:cNvPr name="TextBox 5" id="5"/>
          <p:cNvSpPr txBox="true"/>
          <p:nvPr/>
        </p:nvSpPr>
        <p:spPr>
          <a:xfrm rot="0">
            <a:off x="413233" y="1217114"/>
            <a:ext cx="8761247" cy="5517452"/>
          </a:xfrm>
          <a:prstGeom prst="rect">
            <a:avLst/>
          </a:prstGeom>
        </p:spPr>
        <p:txBody>
          <a:bodyPr anchor="t" rtlCol="false" tIns="0" lIns="0" bIns="0" rIns="0">
            <a:spAutoFit/>
          </a:bodyPr>
          <a:lstStyle/>
          <a:p>
            <a:pPr algn="just" marL="329455" indent="-164727" lvl="1">
              <a:lnSpc>
                <a:spcPts val="4607"/>
              </a:lnSpc>
              <a:buFont typeface="Arial"/>
              <a:buChar char="•"/>
            </a:pPr>
            <a:r>
              <a:rPr lang="en-US" sz="2559">
                <a:solidFill>
                  <a:srgbClr val="000000"/>
                </a:solidFill>
                <a:latin typeface="Times New Roman"/>
                <a:ea typeface="Times New Roman"/>
                <a:cs typeface="Times New Roman"/>
                <a:sym typeface="Times New Roman"/>
              </a:rPr>
              <a:t>To compare and </a:t>
            </a:r>
            <a:r>
              <a:rPr lang="en-US" b="true" sz="2559">
                <a:solidFill>
                  <a:srgbClr val="0070C0"/>
                </a:solidFill>
                <a:latin typeface="Times New Roman Bold"/>
                <a:ea typeface="Times New Roman Bold"/>
                <a:cs typeface="Times New Roman Bold"/>
                <a:sym typeface="Times New Roman Bold"/>
              </a:rPr>
              <a:t>analyze</a:t>
            </a:r>
          </a:p>
          <a:p>
            <a:pPr algn="just" marL="329455" indent="-164727" lvl="1">
              <a:lnSpc>
                <a:spcPts val="4607"/>
              </a:lnSpc>
              <a:buFont typeface="Arial"/>
              <a:buChar char="•"/>
            </a:pPr>
            <a:r>
              <a:rPr lang="en-US" sz="2559">
                <a:solidFill>
                  <a:srgbClr val="0E101A"/>
                </a:solidFill>
                <a:latin typeface="Times New Roman"/>
                <a:ea typeface="Times New Roman"/>
                <a:cs typeface="Times New Roman"/>
                <a:sym typeface="Times New Roman"/>
              </a:rPr>
              <a:t>To propose a texture, </a:t>
            </a:r>
          </a:p>
          <a:p>
            <a:pPr algn="just" marL="329455" indent="-164727" lvl="1">
              <a:lnSpc>
                <a:spcPts val="4607"/>
              </a:lnSpc>
              <a:buFont typeface="Arial"/>
              <a:buChar char="•"/>
            </a:pPr>
            <a:r>
              <a:rPr lang="en-US" sz="2559">
                <a:solidFill>
                  <a:srgbClr val="0E101A"/>
                </a:solidFill>
                <a:latin typeface="Times New Roman"/>
                <a:ea typeface="Times New Roman"/>
                <a:cs typeface="Times New Roman"/>
                <a:sym typeface="Times New Roman"/>
              </a:rPr>
              <a:t>To improve the To improve emergency response efficiency through edge computing, reducing communication delays while maintaining high accuracy in real-time disaster scenarios.</a:t>
            </a:r>
          </a:p>
        </p:txBody>
      </p:sp>
      <p:grpSp>
        <p:nvGrpSpPr>
          <p:cNvPr name="Group 6" id="6"/>
          <p:cNvGrpSpPr/>
          <p:nvPr/>
        </p:nvGrpSpPr>
        <p:grpSpPr>
          <a:xfrm rot="0">
            <a:off x="8371970" y="0"/>
            <a:ext cx="1361284" cy="1232640"/>
            <a:chOff x="0" y="0"/>
            <a:chExt cx="1815046" cy="1643520"/>
          </a:xfrm>
        </p:grpSpPr>
        <p:sp>
          <p:nvSpPr>
            <p:cNvPr name="Freeform 7" id="7"/>
            <p:cNvSpPr/>
            <p:nvPr/>
          </p:nvSpPr>
          <p:spPr>
            <a:xfrm flipH="false" flipV="false" rot="0">
              <a:off x="0" y="0"/>
              <a:ext cx="1815084" cy="1643507"/>
            </a:xfrm>
            <a:custGeom>
              <a:avLst/>
              <a:gdLst/>
              <a:ahLst/>
              <a:cxnLst/>
              <a:rect r="r" b="b" t="t" l="l"/>
              <a:pathLst>
                <a:path h="1643507" w="1815084">
                  <a:moveTo>
                    <a:pt x="0" y="0"/>
                  </a:moveTo>
                  <a:lnTo>
                    <a:pt x="1815084" y="0"/>
                  </a:lnTo>
                  <a:lnTo>
                    <a:pt x="1815084" y="1643507"/>
                  </a:lnTo>
                  <a:lnTo>
                    <a:pt x="0" y="1643507"/>
                  </a:lnTo>
                  <a:lnTo>
                    <a:pt x="0" y="0"/>
                  </a:lnTo>
                  <a:close/>
                </a:path>
              </a:pathLst>
            </a:custGeom>
            <a:blipFill>
              <a:blip r:embed="rId4"/>
              <a:stretch>
                <a:fillRect l="-49" t="0" r="-46" b="0"/>
              </a:stretch>
            </a:blipFill>
          </p:spPr>
        </p:sp>
      </p:grpSp>
    </p:spTree>
  </p:cSld>
  <p:clrMapOvr>
    <a:masterClrMapping/>
  </p:clrMapOvr>
  <p:transition spd="fast">
    <p:fade/>
  </p:transition>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81" y="19964"/>
            <a:ext cx="8534400" cy="731520"/>
            <a:chOff x="0" y="0"/>
            <a:chExt cx="11379200" cy="975360"/>
          </a:xfrm>
        </p:grpSpPr>
        <p:sp>
          <p:nvSpPr>
            <p:cNvPr name="Freeform 3" id="3"/>
            <p:cNvSpPr/>
            <p:nvPr/>
          </p:nvSpPr>
          <p:spPr>
            <a:xfrm flipH="false" flipV="false" rot="0">
              <a:off x="0" y="0"/>
              <a:ext cx="11379200" cy="975360"/>
            </a:xfrm>
            <a:custGeom>
              <a:avLst/>
              <a:gdLst/>
              <a:ahLst/>
              <a:cxnLst/>
              <a:rect r="r" b="b" t="t" l="l"/>
              <a:pathLst>
                <a:path h="975360" w="11379200">
                  <a:moveTo>
                    <a:pt x="0" y="0"/>
                  </a:moveTo>
                  <a:lnTo>
                    <a:pt x="11379200" y="0"/>
                  </a:lnTo>
                  <a:lnTo>
                    <a:pt x="11379200" y="975360"/>
                  </a:lnTo>
                  <a:lnTo>
                    <a:pt x="0" y="975360"/>
                  </a:lnTo>
                  <a:close/>
                </a:path>
              </a:pathLst>
            </a:custGeom>
            <a:blipFill>
              <a:blip r:embed="rId2">
                <a:alphaModFix amt="0"/>
              </a:blip>
              <a:stretch>
                <a:fillRect l="0" t="-177325" r="0" b="-177325"/>
              </a:stretch>
            </a:blipFill>
          </p:spPr>
        </p:sp>
        <p:sp>
          <p:nvSpPr>
            <p:cNvPr name="TextBox 4" id="4"/>
            <p:cNvSpPr txBox="true"/>
            <p:nvPr/>
          </p:nvSpPr>
          <p:spPr>
            <a:xfrm>
              <a:off x="0" y="-19050"/>
              <a:ext cx="11379200" cy="994410"/>
            </a:xfrm>
            <a:prstGeom prst="rect">
              <a:avLst/>
            </a:prstGeom>
          </p:spPr>
          <p:txBody>
            <a:bodyPr anchor="ctr" rtlCol="false" tIns="0" lIns="0" bIns="0" rIns="0"/>
            <a:lstStyle/>
            <a:p>
              <a:pPr algn="ctr">
                <a:lnSpc>
                  <a:spcPts val="4095"/>
                </a:lnSpc>
              </a:pPr>
              <a:r>
                <a:rPr lang="en-US" sz="3413" b="true">
                  <a:solidFill>
                    <a:srgbClr val="FF0000"/>
                  </a:solidFill>
                  <a:latin typeface="Times New Roman Bold"/>
                  <a:ea typeface="Times New Roman Bold"/>
                  <a:cs typeface="Times New Roman Bold"/>
                  <a:sym typeface="Times New Roman Bold"/>
                </a:rPr>
                <a:t>ORGANIZATION OF PRESENTATION</a:t>
              </a:r>
            </a:p>
          </p:txBody>
        </p:sp>
      </p:grpSp>
      <p:sp>
        <p:nvSpPr>
          <p:cNvPr name="TextBox 5" id="5"/>
          <p:cNvSpPr txBox="true"/>
          <p:nvPr/>
        </p:nvSpPr>
        <p:spPr>
          <a:xfrm rot="0">
            <a:off x="365674" y="1070250"/>
            <a:ext cx="9367580" cy="5695239"/>
          </a:xfrm>
          <a:prstGeom prst="rect">
            <a:avLst/>
          </a:prstGeom>
        </p:spPr>
        <p:txBody>
          <a:bodyPr anchor="t" rtlCol="false" tIns="0" lIns="0" bIns="0" rIns="0">
            <a:spAutoFit/>
          </a:bodyPr>
          <a:lstStyle/>
          <a:p>
            <a:pPr algn="l">
              <a:lnSpc>
                <a:spcPts val="2649"/>
              </a:lnSpc>
            </a:pPr>
            <a:r>
              <a:rPr lang="en-US" sz="2453" b="true">
                <a:solidFill>
                  <a:srgbClr val="000000"/>
                </a:solidFill>
                <a:latin typeface="Times New Roman Bold"/>
                <a:ea typeface="Times New Roman Bold"/>
                <a:cs typeface="Times New Roman Bold"/>
                <a:sym typeface="Times New Roman Bold"/>
              </a:rPr>
              <a:t>1. INTRODUCTION</a:t>
            </a:r>
          </a:p>
          <a:p>
            <a:pPr algn="l">
              <a:lnSpc>
                <a:spcPts val="2649"/>
              </a:lnSpc>
            </a:pPr>
            <a:r>
              <a:rPr lang="en-US" sz="2453" b="true">
                <a:solidFill>
                  <a:srgbClr val="000000"/>
                </a:solidFill>
                <a:latin typeface="Times New Roman Bold"/>
                <a:ea typeface="Times New Roman Bold"/>
                <a:cs typeface="Times New Roman Bold"/>
                <a:sym typeface="Times New Roman Bold"/>
              </a:rPr>
              <a:t>2. LITERATURE SURVEY</a:t>
            </a:r>
          </a:p>
          <a:p>
            <a:pPr algn="l">
              <a:lnSpc>
                <a:spcPts val="2649"/>
              </a:lnSpc>
            </a:pPr>
            <a:r>
              <a:rPr lang="en-US" sz="2453" b="true">
                <a:solidFill>
                  <a:srgbClr val="000000"/>
                </a:solidFill>
                <a:latin typeface="Times New Roman Bold"/>
                <a:ea typeface="Times New Roman Bold"/>
                <a:cs typeface="Times New Roman Bold"/>
                <a:sym typeface="Times New Roman Bold"/>
              </a:rPr>
              <a:t>3. RESARCH GAP IDENTIFIIED AND SCOPE</a:t>
            </a:r>
          </a:p>
          <a:p>
            <a:pPr algn="l">
              <a:lnSpc>
                <a:spcPts val="2649"/>
              </a:lnSpc>
            </a:pPr>
            <a:r>
              <a:rPr lang="en-US" sz="2453" b="true">
                <a:solidFill>
                  <a:srgbClr val="000000"/>
                </a:solidFill>
                <a:latin typeface="Times New Roman Bold"/>
                <a:ea typeface="Times New Roman Bold"/>
                <a:cs typeface="Times New Roman Bold"/>
                <a:sym typeface="Times New Roman Bold"/>
              </a:rPr>
              <a:t>4. PROPOSED MODEL</a:t>
            </a:r>
          </a:p>
          <a:p>
            <a:pPr algn="l">
              <a:lnSpc>
                <a:spcPts val="2649"/>
              </a:lnSpc>
            </a:pPr>
            <a:r>
              <a:rPr lang="en-US" sz="2453" b="true">
                <a:solidFill>
                  <a:srgbClr val="000000"/>
                </a:solidFill>
                <a:latin typeface="Times New Roman Bold"/>
                <a:ea typeface="Times New Roman Bold"/>
                <a:cs typeface="Times New Roman Bold"/>
                <a:sym typeface="Times New Roman Bold"/>
              </a:rPr>
              <a:t>4.1 ARCHITECTURE DIAGRAM</a:t>
            </a:r>
          </a:p>
          <a:p>
            <a:pPr algn="l">
              <a:lnSpc>
                <a:spcPts val="2649"/>
              </a:lnSpc>
            </a:pPr>
            <a:r>
              <a:rPr lang="en-US" sz="2453" b="true">
                <a:solidFill>
                  <a:srgbClr val="000000"/>
                </a:solidFill>
                <a:latin typeface="Times New Roman Bold"/>
                <a:ea typeface="Times New Roman Bold"/>
                <a:cs typeface="Times New Roman Bold"/>
                <a:sym typeface="Times New Roman Bold"/>
              </a:rPr>
              <a:t>4.2 DATASET DETAILS</a:t>
            </a:r>
          </a:p>
          <a:p>
            <a:pPr algn="l">
              <a:lnSpc>
                <a:spcPts val="2649"/>
              </a:lnSpc>
            </a:pPr>
            <a:r>
              <a:rPr lang="en-US" sz="2453" b="true">
                <a:solidFill>
                  <a:srgbClr val="000000"/>
                </a:solidFill>
                <a:latin typeface="Times New Roman Bold"/>
                <a:ea typeface="Times New Roman Bold"/>
                <a:cs typeface="Times New Roman Bold"/>
                <a:sym typeface="Times New Roman Bold"/>
              </a:rPr>
              <a:t>4.3 PREPROCESSING MODULE</a:t>
            </a:r>
          </a:p>
          <a:p>
            <a:pPr algn="l">
              <a:lnSpc>
                <a:spcPts val="2649"/>
              </a:lnSpc>
            </a:pPr>
            <a:r>
              <a:rPr lang="en-US" sz="2453" b="true">
                <a:solidFill>
                  <a:srgbClr val="000000"/>
                </a:solidFill>
                <a:latin typeface="Times New Roman Bold"/>
                <a:ea typeface="Times New Roman Bold"/>
                <a:cs typeface="Times New Roman Bold"/>
                <a:sym typeface="Times New Roman Bold"/>
              </a:rPr>
              <a:t>4.4 FEATURE EXTRACTION MODULE</a:t>
            </a:r>
          </a:p>
          <a:p>
            <a:pPr algn="l">
              <a:lnSpc>
                <a:spcPts val="2649"/>
              </a:lnSpc>
            </a:pPr>
            <a:r>
              <a:rPr lang="en-US" sz="2453" b="true">
                <a:solidFill>
                  <a:srgbClr val="000000"/>
                </a:solidFill>
                <a:latin typeface="Times New Roman Bold"/>
                <a:ea typeface="Times New Roman Bold"/>
                <a:cs typeface="Times New Roman Bold"/>
                <a:sym typeface="Times New Roman Bold"/>
              </a:rPr>
              <a:t>4.5 CLASSIFICATION MODULE</a:t>
            </a:r>
          </a:p>
          <a:p>
            <a:pPr algn="l">
              <a:lnSpc>
                <a:spcPts val="2649"/>
              </a:lnSpc>
            </a:pPr>
            <a:r>
              <a:rPr lang="en-US" sz="2453" b="true">
                <a:solidFill>
                  <a:srgbClr val="000000"/>
                </a:solidFill>
                <a:latin typeface="Times New Roman Bold"/>
                <a:ea typeface="Times New Roman Bold"/>
                <a:cs typeface="Times New Roman Bold"/>
                <a:sym typeface="Times New Roman Bold"/>
              </a:rPr>
              <a:t>5. RESULTS AND DISCUSSION</a:t>
            </a:r>
          </a:p>
          <a:p>
            <a:pPr algn="l">
              <a:lnSpc>
                <a:spcPts val="2649"/>
              </a:lnSpc>
            </a:pPr>
            <a:r>
              <a:rPr lang="en-US" sz="2453" b="true">
                <a:solidFill>
                  <a:srgbClr val="000000"/>
                </a:solidFill>
                <a:latin typeface="Times New Roman Bold"/>
                <a:ea typeface="Times New Roman Bold"/>
                <a:cs typeface="Times New Roman Bold"/>
                <a:sym typeface="Times New Roman Bold"/>
              </a:rPr>
              <a:t>5.1 PERFORMANCE METRICS USED</a:t>
            </a:r>
          </a:p>
          <a:p>
            <a:pPr algn="l">
              <a:lnSpc>
                <a:spcPts val="2649"/>
              </a:lnSpc>
            </a:pPr>
            <a:r>
              <a:rPr lang="en-US" sz="2453" b="true">
                <a:solidFill>
                  <a:srgbClr val="000000"/>
                </a:solidFill>
                <a:latin typeface="Times New Roman Bold"/>
                <a:ea typeface="Times New Roman Bold"/>
                <a:cs typeface="Times New Roman Bold"/>
                <a:sym typeface="Times New Roman Bold"/>
              </a:rPr>
              <a:t>5.2 RESULTS AND DISCUSSION (TABLES AND CHARTS – MINIMUM 4 TO 5)</a:t>
            </a:r>
          </a:p>
          <a:p>
            <a:pPr algn="l">
              <a:lnSpc>
                <a:spcPts val="2649"/>
              </a:lnSpc>
            </a:pPr>
            <a:r>
              <a:rPr lang="en-US" sz="2453" b="true">
                <a:solidFill>
                  <a:srgbClr val="000000"/>
                </a:solidFill>
                <a:latin typeface="Times New Roman Bold"/>
                <a:ea typeface="Times New Roman Bold"/>
                <a:cs typeface="Times New Roman Bold"/>
                <a:sym typeface="Times New Roman Bold"/>
              </a:rPr>
              <a:t>6. CONCLUSION AND FUTURE ENHANCEMENT</a:t>
            </a:r>
          </a:p>
          <a:p>
            <a:pPr algn="l">
              <a:lnSpc>
                <a:spcPts val="2649"/>
              </a:lnSpc>
            </a:pPr>
            <a:r>
              <a:rPr lang="en-US" sz="2453" b="true">
                <a:solidFill>
                  <a:srgbClr val="000000"/>
                </a:solidFill>
                <a:latin typeface="Times New Roman Bold"/>
                <a:ea typeface="Times New Roman Bold"/>
                <a:cs typeface="Times New Roman Bold"/>
                <a:sym typeface="Times New Roman Bold"/>
              </a:rPr>
              <a:t>7. REFERENCES</a:t>
            </a:r>
          </a:p>
          <a:p>
            <a:pPr algn="l">
              <a:lnSpc>
                <a:spcPts val="2649"/>
              </a:lnSpc>
            </a:pPr>
          </a:p>
          <a:p>
            <a:pPr algn="l">
              <a:lnSpc>
                <a:spcPts val="2649"/>
              </a:lnSpc>
            </a:pPr>
          </a:p>
        </p:txBody>
      </p:sp>
      <p:grpSp>
        <p:nvGrpSpPr>
          <p:cNvPr name="Group 6" id="6"/>
          <p:cNvGrpSpPr/>
          <p:nvPr/>
        </p:nvGrpSpPr>
        <p:grpSpPr>
          <a:xfrm rot="0">
            <a:off x="8371970" y="0"/>
            <a:ext cx="1361284" cy="1232640"/>
            <a:chOff x="0" y="0"/>
            <a:chExt cx="1815046" cy="1643520"/>
          </a:xfrm>
        </p:grpSpPr>
        <p:sp>
          <p:nvSpPr>
            <p:cNvPr name="Freeform 7" id="7"/>
            <p:cNvSpPr/>
            <p:nvPr/>
          </p:nvSpPr>
          <p:spPr>
            <a:xfrm flipH="false" flipV="false" rot="0">
              <a:off x="0" y="0"/>
              <a:ext cx="1815084" cy="1643507"/>
            </a:xfrm>
            <a:custGeom>
              <a:avLst/>
              <a:gdLst/>
              <a:ahLst/>
              <a:cxnLst/>
              <a:rect r="r" b="b" t="t" l="l"/>
              <a:pathLst>
                <a:path h="1643507" w="1815084">
                  <a:moveTo>
                    <a:pt x="0" y="0"/>
                  </a:moveTo>
                  <a:lnTo>
                    <a:pt x="1815084" y="0"/>
                  </a:lnTo>
                  <a:lnTo>
                    <a:pt x="1815084" y="1643507"/>
                  </a:lnTo>
                  <a:lnTo>
                    <a:pt x="0" y="1643507"/>
                  </a:lnTo>
                  <a:lnTo>
                    <a:pt x="0" y="0"/>
                  </a:lnTo>
                  <a:close/>
                </a:path>
              </a:pathLst>
            </a:custGeom>
            <a:blipFill>
              <a:blip r:embed="rId3"/>
              <a:stretch>
                <a:fillRect l="-49" t="0" r="-46" b="0"/>
              </a:stretch>
            </a:blipFill>
          </p:spPr>
        </p:sp>
      </p:grpSp>
    </p:spTree>
  </p:cSld>
  <p:clrMapOvr>
    <a:masterClrMapping/>
  </p:clrMapOvr>
  <p:transition spd="fast">
    <p:fade/>
  </p:transition>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9956" y="162049"/>
            <a:ext cx="9103490" cy="1219200"/>
            <a:chOff x="0" y="0"/>
            <a:chExt cx="12137987" cy="1625600"/>
          </a:xfrm>
        </p:grpSpPr>
        <p:sp>
          <p:nvSpPr>
            <p:cNvPr name="Freeform 3" id="3"/>
            <p:cNvSpPr/>
            <p:nvPr/>
          </p:nvSpPr>
          <p:spPr>
            <a:xfrm flipH="false" flipV="false" rot="0">
              <a:off x="0" y="0"/>
              <a:ext cx="12137984" cy="1625600"/>
            </a:xfrm>
            <a:custGeom>
              <a:avLst/>
              <a:gdLst/>
              <a:ahLst/>
              <a:cxnLst/>
              <a:rect r="r" b="b" t="t" l="l"/>
              <a:pathLst>
                <a:path h="1625600" w="12137984">
                  <a:moveTo>
                    <a:pt x="0" y="0"/>
                  </a:moveTo>
                  <a:lnTo>
                    <a:pt x="12137984" y="0"/>
                  </a:lnTo>
                  <a:lnTo>
                    <a:pt x="12137984" y="1625600"/>
                  </a:lnTo>
                  <a:lnTo>
                    <a:pt x="0" y="1625600"/>
                  </a:lnTo>
                  <a:close/>
                </a:path>
              </a:pathLst>
            </a:custGeom>
            <a:blipFill>
              <a:blip r:embed="rId2">
                <a:alphaModFix amt="0"/>
              </a:blip>
              <a:stretch>
                <a:fillRect l="0" t="-95490" r="0" b="-95490"/>
              </a:stretch>
            </a:blipFill>
          </p:spPr>
        </p:sp>
        <p:sp>
          <p:nvSpPr>
            <p:cNvPr name="TextBox 4" id="4"/>
            <p:cNvSpPr txBox="true"/>
            <p:nvPr/>
          </p:nvSpPr>
          <p:spPr>
            <a:xfrm>
              <a:off x="0" y="-28575"/>
              <a:ext cx="12137987" cy="1654175"/>
            </a:xfrm>
            <a:prstGeom prst="rect">
              <a:avLst/>
            </a:prstGeom>
          </p:spPr>
          <p:txBody>
            <a:bodyPr anchor="ctr" rtlCol="false" tIns="0" lIns="0" bIns="0" rIns="0"/>
            <a:lstStyle/>
            <a:p>
              <a:pPr algn="ctr">
                <a:lnSpc>
                  <a:spcPts val="5631"/>
                </a:lnSpc>
              </a:pPr>
              <a:r>
                <a:rPr lang="en-US" sz="4693" b="true">
                  <a:solidFill>
                    <a:srgbClr val="FF0000"/>
                  </a:solidFill>
                  <a:latin typeface="Times New Roman Bold"/>
                  <a:ea typeface="Times New Roman Bold"/>
                  <a:cs typeface="Times New Roman Bold"/>
                  <a:sym typeface="Times New Roman Bold"/>
                </a:rPr>
                <a:t>1. Introduction </a:t>
              </a:r>
            </a:p>
          </p:txBody>
        </p:sp>
      </p:grpSp>
      <p:grpSp>
        <p:nvGrpSpPr>
          <p:cNvPr name="Group 5" id="5"/>
          <p:cNvGrpSpPr/>
          <p:nvPr/>
        </p:nvGrpSpPr>
        <p:grpSpPr>
          <a:xfrm rot="0">
            <a:off x="8371970" y="0"/>
            <a:ext cx="1361284" cy="1232640"/>
            <a:chOff x="0" y="0"/>
            <a:chExt cx="1815046" cy="1643520"/>
          </a:xfrm>
        </p:grpSpPr>
        <p:sp>
          <p:nvSpPr>
            <p:cNvPr name="Freeform 6" id="6"/>
            <p:cNvSpPr/>
            <p:nvPr/>
          </p:nvSpPr>
          <p:spPr>
            <a:xfrm flipH="false" flipV="false" rot="0">
              <a:off x="0" y="0"/>
              <a:ext cx="1815084" cy="1643507"/>
            </a:xfrm>
            <a:custGeom>
              <a:avLst/>
              <a:gdLst/>
              <a:ahLst/>
              <a:cxnLst/>
              <a:rect r="r" b="b" t="t" l="l"/>
              <a:pathLst>
                <a:path h="1643507" w="1815084">
                  <a:moveTo>
                    <a:pt x="0" y="0"/>
                  </a:moveTo>
                  <a:lnTo>
                    <a:pt x="1815084" y="0"/>
                  </a:lnTo>
                  <a:lnTo>
                    <a:pt x="1815084" y="1643507"/>
                  </a:lnTo>
                  <a:lnTo>
                    <a:pt x="0" y="1643507"/>
                  </a:lnTo>
                  <a:lnTo>
                    <a:pt x="0" y="0"/>
                  </a:lnTo>
                  <a:close/>
                </a:path>
              </a:pathLst>
            </a:custGeom>
            <a:blipFill>
              <a:blip r:embed="rId3"/>
              <a:stretch>
                <a:fillRect l="-49" t="0" r="-46" b="0"/>
              </a:stretch>
            </a:blipFill>
          </p:spPr>
        </p:sp>
      </p:grpSp>
      <p:grpSp>
        <p:nvGrpSpPr>
          <p:cNvPr name="Group 7" id="7"/>
          <p:cNvGrpSpPr/>
          <p:nvPr/>
        </p:nvGrpSpPr>
        <p:grpSpPr>
          <a:xfrm rot="0">
            <a:off x="487299" y="1395460"/>
            <a:ext cx="8808577" cy="4365308"/>
            <a:chOff x="0" y="0"/>
            <a:chExt cx="11744770" cy="5820410"/>
          </a:xfrm>
        </p:grpSpPr>
        <p:sp>
          <p:nvSpPr>
            <p:cNvPr name="Freeform 8" id="8"/>
            <p:cNvSpPr/>
            <p:nvPr/>
          </p:nvSpPr>
          <p:spPr>
            <a:xfrm flipH="false" flipV="false" rot="0">
              <a:off x="0" y="0"/>
              <a:ext cx="11744768" cy="5820416"/>
            </a:xfrm>
            <a:custGeom>
              <a:avLst/>
              <a:gdLst/>
              <a:ahLst/>
              <a:cxnLst/>
              <a:rect r="r" b="b" t="t" l="l"/>
              <a:pathLst>
                <a:path h="5820416" w="11744768">
                  <a:moveTo>
                    <a:pt x="0" y="0"/>
                  </a:moveTo>
                  <a:lnTo>
                    <a:pt x="11744768" y="0"/>
                  </a:lnTo>
                  <a:lnTo>
                    <a:pt x="11744768" y="5820416"/>
                  </a:lnTo>
                  <a:lnTo>
                    <a:pt x="0" y="5820416"/>
                  </a:lnTo>
                  <a:close/>
                </a:path>
              </a:pathLst>
            </a:custGeom>
            <a:blipFill>
              <a:blip r:embed="rId2">
                <a:alphaModFix amt="0"/>
              </a:blip>
              <a:stretch>
                <a:fillRect l="-13583" t="0" r="-13584" b="0"/>
              </a:stretch>
            </a:blipFill>
          </p:spPr>
        </p:sp>
        <p:sp>
          <p:nvSpPr>
            <p:cNvPr name="TextBox 9" id="9"/>
            <p:cNvSpPr txBox="true"/>
            <p:nvPr/>
          </p:nvSpPr>
          <p:spPr>
            <a:xfrm>
              <a:off x="0" y="-9525"/>
              <a:ext cx="11744770" cy="5829935"/>
            </a:xfrm>
            <a:prstGeom prst="rect">
              <a:avLst/>
            </a:prstGeom>
          </p:spPr>
          <p:txBody>
            <a:bodyPr anchor="ctr" rtlCol="false" tIns="0" lIns="0" bIns="0" rIns="0"/>
            <a:lstStyle/>
            <a:p>
              <a:pPr algn="l">
                <a:lnSpc>
                  <a:spcPts val="2560"/>
                </a:lnSpc>
              </a:pPr>
            </a:p>
            <a:p>
              <a:pPr algn="just">
                <a:lnSpc>
                  <a:spcPts val="2560"/>
                </a:lnSpc>
              </a:pPr>
              <a:r>
                <a:rPr lang="en-US" sz="2133">
                  <a:solidFill>
                    <a:srgbClr val="000000"/>
                  </a:solidFill>
                  <a:latin typeface="Arial"/>
                  <a:ea typeface="Arial"/>
                  <a:cs typeface="Arial"/>
                  <a:sym typeface="Arial"/>
                </a:rPr>
                <a:t>The increasing occurrence of natural disasters, road accidents, and public emergencies necessitates intelligent emergency response systems capable of rapid and accurate situational assessment. Conventional SOS applications rely on manual user input, often delaying response during critical situations. This work proposes a </a:t>
              </a:r>
              <a:r>
                <a:rPr lang="en-US" sz="2133" b="true">
                  <a:solidFill>
                    <a:srgbClr val="000000"/>
                  </a:solidFill>
                  <a:latin typeface="Arial Bold"/>
                  <a:ea typeface="Arial Bold"/>
                  <a:cs typeface="Arial Bold"/>
                  <a:sym typeface="Arial Bold"/>
                </a:rPr>
                <a:t>Multimodal Context-Aware Emergency Triage System</a:t>
              </a:r>
              <a:r>
                <a:rPr lang="en-US" sz="2133">
                  <a:solidFill>
                    <a:srgbClr val="000000"/>
                  </a:solidFill>
                  <a:latin typeface="Arial"/>
                  <a:ea typeface="Arial"/>
                  <a:cs typeface="Arial"/>
                  <a:sym typeface="Arial"/>
                </a:rPr>
                <a:t> that integrates real-time vision, speech, GPS, weather, and emergency infrastructure data using </a:t>
              </a:r>
              <a:r>
                <a:rPr lang="en-US" sz="2133" b="true">
                  <a:solidFill>
                    <a:srgbClr val="000000"/>
                  </a:solidFill>
                  <a:latin typeface="Arial Bold"/>
                  <a:ea typeface="Arial Bold"/>
                  <a:cs typeface="Arial Bold"/>
                  <a:sym typeface="Arial Bold"/>
                </a:rPr>
                <a:t>Deep Learning</a:t>
              </a:r>
              <a:r>
                <a:rPr lang="en-US" sz="2133">
                  <a:solidFill>
                    <a:srgbClr val="000000"/>
                  </a:solidFill>
                  <a:latin typeface="Arial"/>
                  <a:ea typeface="Arial"/>
                  <a:cs typeface="Arial"/>
                  <a:sym typeface="Arial"/>
                </a:rPr>
                <a:t> and </a:t>
              </a:r>
              <a:r>
                <a:rPr lang="en-US" sz="2133" b="true">
                  <a:solidFill>
                    <a:srgbClr val="000000"/>
                  </a:solidFill>
                  <a:latin typeface="Arial Bold"/>
                  <a:ea typeface="Arial Bold"/>
                  <a:cs typeface="Arial Bold"/>
                  <a:sym typeface="Arial Bold"/>
                </a:rPr>
                <a:t>Edge Computing</a:t>
              </a:r>
              <a:r>
                <a:rPr lang="en-US" sz="2133">
                  <a:solidFill>
                    <a:srgbClr val="000000"/>
                  </a:solidFill>
                  <a:latin typeface="Arial"/>
                  <a:ea typeface="Arial"/>
                  <a:cs typeface="Arial"/>
                  <a:sym typeface="Arial"/>
                </a:rPr>
                <a:t>. The system automatically evaluates incident severity, prioritizes emergencies, and dispatches structured alerts to the appropriate authorities, enabling faster response, improved resource allocation, and reliable emergency management.</a:t>
              </a:r>
            </a:p>
          </p:txBody>
        </p:sp>
      </p:grpSp>
    </p:spTree>
  </p:cSld>
  <p:clrMapOvr>
    <a:masterClrMapping/>
  </p:clrMapOvr>
  <p:transition spd="fast">
    <p:fade/>
  </p:transition>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87680" y="-108290"/>
            <a:ext cx="8778240" cy="801024"/>
            <a:chOff x="0" y="0"/>
            <a:chExt cx="11704320" cy="1068032"/>
          </a:xfrm>
        </p:grpSpPr>
        <p:sp>
          <p:nvSpPr>
            <p:cNvPr name="Freeform 3" id="3"/>
            <p:cNvSpPr/>
            <p:nvPr/>
          </p:nvSpPr>
          <p:spPr>
            <a:xfrm flipH="false" flipV="false" rot="0">
              <a:off x="0" y="0"/>
              <a:ext cx="11704320" cy="1068032"/>
            </a:xfrm>
            <a:custGeom>
              <a:avLst/>
              <a:gdLst/>
              <a:ahLst/>
              <a:cxnLst/>
              <a:rect r="r" b="b" t="t" l="l"/>
              <a:pathLst>
                <a:path h="1068032" w="11704320">
                  <a:moveTo>
                    <a:pt x="0" y="0"/>
                  </a:moveTo>
                  <a:lnTo>
                    <a:pt x="11704320" y="0"/>
                  </a:lnTo>
                  <a:lnTo>
                    <a:pt x="11704320" y="1068032"/>
                  </a:lnTo>
                  <a:lnTo>
                    <a:pt x="0" y="1068032"/>
                  </a:lnTo>
                  <a:close/>
                </a:path>
              </a:pathLst>
            </a:custGeom>
            <a:blipFill>
              <a:blip r:embed="rId2">
                <a:alphaModFix amt="0"/>
              </a:blip>
              <a:stretch>
                <a:fillRect l="0" t="-163532" r="0" b="-163532"/>
              </a:stretch>
            </a:blipFill>
          </p:spPr>
        </p:sp>
        <p:sp>
          <p:nvSpPr>
            <p:cNvPr name="TextBox 4" id="4"/>
            <p:cNvSpPr txBox="true"/>
            <p:nvPr/>
          </p:nvSpPr>
          <p:spPr>
            <a:xfrm>
              <a:off x="0" y="-19050"/>
              <a:ext cx="11704320" cy="1087082"/>
            </a:xfrm>
            <a:prstGeom prst="rect">
              <a:avLst/>
            </a:prstGeom>
          </p:spPr>
          <p:txBody>
            <a:bodyPr anchor="ctr" rtlCol="false" tIns="0" lIns="0" bIns="0" rIns="0"/>
            <a:lstStyle/>
            <a:p>
              <a:pPr algn="ctr">
                <a:lnSpc>
                  <a:spcPts val="5120"/>
                </a:lnSpc>
              </a:pPr>
              <a:r>
                <a:rPr lang="en-US" sz="4266" b="true">
                  <a:solidFill>
                    <a:srgbClr val="FF0000"/>
                  </a:solidFill>
                  <a:latin typeface="Times New Roman Bold"/>
                  <a:ea typeface="Times New Roman Bold"/>
                  <a:cs typeface="Times New Roman Bold"/>
                  <a:sym typeface="Times New Roman Bold"/>
                </a:rPr>
                <a:t>2. Literature Survey</a:t>
              </a:r>
            </a:p>
          </p:txBody>
        </p:sp>
      </p:grpSp>
      <p:grpSp>
        <p:nvGrpSpPr>
          <p:cNvPr name="Group 5" id="5"/>
          <p:cNvGrpSpPr/>
          <p:nvPr/>
        </p:nvGrpSpPr>
        <p:grpSpPr>
          <a:xfrm rot="0">
            <a:off x="487680" y="6780286"/>
            <a:ext cx="2275970" cy="389372"/>
            <a:chOff x="0" y="0"/>
            <a:chExt cx="3034627" cy="519163"/>
          </a:xfrm>
        </p:grpSpPr>
        <p:sp>
          <p:nvSpPr>
            <p:cNvPr name="Freeform 6" id="6"/>
            <p:cNvSpPr/>
            <p:nvPr/>
          </p:nvSpPr>
          <p:spPr>
            <a:xfrm flipH="false" flipV="false" rot="0">
              <a:off x="0" y="0"/>
              <a:ext cx="3034624" cy="519168"/>
            </a:xfrm>
            <a:custGeom>
              <a:avLst/>
              <a:gdLst/>
              <a:ahLst/>
              <a:cxnLst/>
              <a:rect r="r" b="b" t="t" l="l"/>
              <a:pathLst>
                <a:path h="519168" w="3034624">
                  <a:moveTo>
                    <a:pt x="0" y="0"/>
                  </a:moveTo>
                  <a:lnTo>
                    <a:pt x="3034624" y="0"/>
                  </a:lnTo>
                  <a:lnTo>
                    <a:pt x="3034624" y="519168"/>
                  </a:lnTo>
                  <a:lnTo>
                    <a:pt x="0" y="519168"/>
                  </a:lnTo>
                  <a:close/>
                </a:path>
              </a:pathLst>
            </a:custGeom>
            <a:blipFill>
              <a:blip r:embed="rId2">
                <a:alphaModFix amt="0"/>
              </a:blip>
              <a:stretch>
                <a:fillRect l="0" t="-63893" r="0" b="-63892"/>
              </a:stretch>
            </a:blipFill>
          </p:spPr>
        </p:sp>
        <p:sp>
          <p:nvSpPr>
            <p:cNvPr name="TextBox 7" id="7"/>
            <p:cNvSpPr txBox="true"/>
            <p:nvPr/>
          </p:nvSpPr>
          <p:spPr>
            <a:xfrm>
              <a:off x="0" y="-28575"/>
              <a:ext cx="3034627" cy="547738"/>
            </a:xfrm>
            <a:prstGeom prst="rect">
              <a:avLst/>
            </a:prstGeom>
          </p:spPr>
          <p:txBody>
            <a:bodyPr anchor="ctr" rtlCol="false" tIns="0" lIns="0" bIns="0" rIns="0"/>
            <a:lstStyle/>
            <a:p>
              <a:pPr algn="l">
                <a:lnSpc>
                  <a:spcPts val="1535"/>
                </a:lnSpc>
              </a:pPr>
              <a:r>
                <a:rPr lang="en-US" sz="1279">
                  <a:solidFill>
                    <a:srgbClr val="898989"/>
                  </a:solidFill>
                  <a:latin typeface="Calibri (MS)"/>
                  <a:ea typeface="Calibri (MS)"/>
                  <a:cs typeface="Calibri (MS)"/>
                  <a:sym typeface="Calibri (MS)"/>
                </a:rPr>
                <a:t>Jul 22, 2026</a:t>
              </a:r>
            </a:p>
          </p:txBody>
        </p:sp>
      </p:grpSp>
      <p:grpSp>
        <p:nvGrpSpPr>
          <p:cNvPr name="Group 8" id="8"/>
          <p:cNvGrpSpPr/>
          <p:nvPr/>
        </p:nvGrpSpPr>
        <p:grpSpPr>
          <a:xfrm rot="0">
            <a:off x="3332350" y="6780286"/>
            <a:ext cx="3088900" cy="389372"/>
            <a:chOff x="0" y="0"/>
            <a:chExt cx="4118534" cy="519163"/>
          </a:xfrm>
        </p:grpSpPr>
        <p:sp>
          <p:nvSpPr>
            <p:cNvPr name="Freeform 9" id="9"/>
            <p:cNvSpPr/>
            <p:nvPr/>
          </p:nvSpPr>
          <p:spPr>
            <a:xfrm flipH="false" flipV="false" rot="0">
              <a:off x="0" y="0"/>
              <a:ext cx="4118528" cy="519168"/>
            </a:xfrm>
            <a:custGeom>
              <a:avLst/>
              <a:gdLst/>
              <a:ahLst/>
              <a:cxnLst/>
              <a:rect r="r" b="b" t="t" l="l"/>
              <a:pathLst>
                <a:path h="519168" w="4118528">
                  <a:moveTo>
                    <a:pt x="0" y="0"/>
                  </a:moveTo>
                  <a:lnTo>
                    <a:pt x="4118528" y="0"/>
                  </a:lnTo>
                  <a:lnTo>
                    <a:pt x="4118528" y="519168"/>
                  </a:lnTo>
                  <a:lnTo>
                    <a:pt x="0" y="519168"/>
                  </a:lnTo>
                  <a:close/>
                </a:path>
              </a:pathLst>
            </a:custGeom>
            <a:blipFill>
              <a:blip r:embed="rId2">
                <a:alphaModFix amt="0"/>
              </a:blip>
              <a:stretch>
                <a:fillRect l="0" t="-104574" r="0" b="-104573"/>
              </a:stretch>
            </a:blipFill>
          </p:spPr>
        </p:sp>
        <p:sp>
          <p:nvSpPr>
            <p:cNvPr name="TextBox 10" id="10"/>
            <p:cNvSpPr txBox="true"/>
            <p:nvPr/>
          </p:nvSpPr>
          <p:spPr>
            <a:xfrm>
              <a:off x="0" y="-28575"/>
              <a:ext cx="4118534" cy="547738"/>
            </a:xfrm>
            <a:prstGeom prst="rect">
              <a:avLst/>
            </a:prstGeom>
          </p:spPr>
          <p:txBody>
            <a:bodyPr anchor="ctr" rtlCol="false" tIns="0" lIns="0" bIns="0" rIns="0"/>
            <a:lstStyle/>
            <a:p>
              <a:pPr algn="ctr">
                <a:lnSpc>
                  <a:spcPts val="1535"/>
                </a:lnSpc>
              </a:pPr>
              <a:r>
                <a:rPr lang="en-US" sz="1279">
                  <a:solidFill>
                    <a:srgbClr val="898989"/>
                  </a:solidFill>
                  <a:latin typeface="Calibri (MS)"/>
                  <a:ea typeface="Calibri (MS)"/>
                  <a:cs typeface="Calibri (MS)"/>
                  <a:sym typeface="Calibri (MS)"/>
                </a:rPr>
                <a:t>Face Forgery Detection Using DL</a:t>
              </a:r>
            </a:p>
          </p:txBody>
        </p:sp>
      </p:grpSp>
      <p:grpSp>
        <p:nvGrpSpPr>
          <p:cNvPr name="Group 11" id="11"/>
          <p:cNvGrpSpPr/>
          <p:nvPr/>
        </p:nvGrpSpPr>
        <p:grpSpPr>
          <a:xfrm rot="0">
            <a:off x="6989950" y="6780286"/>
            <a:ext cx="2275970" cy="389372"/>
            <a:chOff x="0" y="0"/>
            <a:chExt cx="3034627" cy="519163"/>
          </a:xfrm>
        </p:grpSpPr>
        <p:sp>
          <p:nvSpPr>
            <p:cNvPr name="Freeform 12" id="12"/>
            <p:cNvSpPr/>
            <p:nvPr/>
          </p:nvSpPr>
          <p:spPr>
            <a:xfrm flipH="false" flipV="false" rot="0">
              <a:off x="0" y="0"/>
              <a:ext cx="3034624" cy="519168"/>
            </a:xfrm>
            <a:custGeom>
              <a:avLst/>
              <a:gdLst/>
              <a:ahLst/>
              <a:cxnLst/>
              <a:rect r="r" b="b" t="t" l="l"/>
              <a:pathLst>
                <a:path h="519168" w="3034624">
                  <a:moveTo>
                    <a:pt x="0" y="0"/>
                  </a:moveTo>
                  <a:lnTo>
                    <a:pt x="3034624" y="0"/>
                  </a:lnTo>
                  <a:lnTo>
                    <a:pt x="3034624" y="519168"/>
                  </a:lnTo>
                  <a:lnTo>
                    <a:pt x="0" y="519168"/>
                  </a:lnTo>
                  <a:close/>
                </a:path>
              </a:pathLst>
            </a:custGeom>
            <a:blipFill>
              <a:blip r:embed="rId2">
                <a:alphaModFix amt="0"/>
              </a:blip>
              <a:stretch>
                <a:fillRect l="0" t="-63893" r="0" b="-63892"/>
              </a:stretch>
            </a:blipFill>
          </p:spPr>
        </p:sp>
        <p:sp>
          <p:nvSpPr>
            <p:cNvPr name="TextBox 13" id="13"/>
            <p:cNvSpPr txBox="true"/>
            <p:nvPr/>
          </p:nvSpPr>
          <p:spPr>
            <a:xfrm>
              <a:off x="0" y="-28575"/>
              <a:ext cx="3034627" cy="547738"/>
            </a:xfrm>
            <a:prstGeom prst="rect">
              <a:avLst/>
            </a:prstGeom>
          </p:spPr>
          <p:txBody>
            <a:bodyPr anchor="ctr" rtlCol="false" tIns="0" lIns="0" bIns="0" rIns="0"/>
            <a:lstStyle/>
            <a:p>
              <a:pPr algn="r">
                <a:lnSpc>
                  <a:spcPts val="1535"/>
                </a:lnSpc>
              </a:pPr>
              <a:r>
                <a:rPr lang="en-US" sz="1279">
                  <a:solidFill>
                    <a:srgbClr val="898989"/>
                  </a:solidFill>
                  <a:latin typeface="Calibri (MS)"/>
                  <a:ea typeface="Calibri (MS)"/>
                  <a:cs typeface="Calibri (MS)"/>
                  <a:sym typeface="Calibri (MS)"/>
                </a:rPr>
                <a:t>&lt;number&gt;</a:t>
              </a:r>
            </a:p>
          </p:txBody>
        </p:sp>
      </p:grpSp>
      <p:sp>
        <p:nvSpPr>
          <p:cNvPr name="TextBox 14" id="14"/>
          <p:cNvSpPr txBox="true"/>
          <p:nvPr/>
        </p:nvSpPr>
        <p:spPr>
          <a:xfrm rot="0">
            <a:off x="3259922" y="510435"/>
            <a:ext cx="3802847" cy="318278"/>
          </a:xfrm>
          <a:prstGeom prst="rect">
            <a:avLst/>
          </a:prstGeom>
        </p:spPr>
        <p:txBody>
          <a:bodyPr anchor="t" rtlCol="false" tIns="0" lIns="0" bIns="0" rIns="0">
            <a:spAutoFit/>
          </a:bodyPr>
          <a:lstStyle/>
          <a:p>
            <a:pPr algn="l">
              <a:lnSpc>
                <a:spcPts val="2304"/>
              </a:lnSpc>
            </a:pPr>
            <a:r>
              <a:rPr lang="en-US" sz="1920" b="true">
                <a:solidFill>
                  <a:srgbClr val="0070C0"/>
                </a:solidFill>
                <a:latin typeface="Times New Roman Bold"/>
                <a:ea typeface="Times New Roman Bold"/>
                <a:cs typeface="Times New Roman Bold"/>
                <a:sym typeface="Times New Roman Bold"/>
              </a:rPr>
              <a:t>Table 1: Literature Survey Table</a:t>
            </a:r>
          </a:p>
        </p:txBody>
      </p:sp>
      <p:grpSp>
        <p:nvGrpSpPr>
          <p:cNvPr name="Group 15" id="15"/>
          <p:cNvGrpSpPr/>
          <p:nvPr/>
        </p:nvGrpSpPr>
        <p:grpSpPr>
          <a:xfrm rot="0">
            <a:off x="8696830" y="-8449"/>
            <a:ext cx="1036415" cy="883968"/>
            <a:chOff x="0" y="0"/>
            <a:chExt cx="1381887" cy="1178624"/>
          </a:xfrm>
        </p:grpSpPr>
        <p:sp>
          <p:nvSpPr>
            <p:cNvPr name="Freeform 16" id="16"/>
            <p:cNvSpPr/>
            <p:nvPr/>
          </p:nvSpPr>
          <p:spPr>
            <a:xfrm flipH="false" flipV="false" rot="0">
              <a:off x="0" y="0"/>
              <a:ext cx="1381887" cy="1178687"/>
            </a:xfrm>
            <a:custGeom>
              <a:avLst/>
              <a:gdLst/>
              <a:ahLst/>
              <a:cxnLst/>
              <a:rect r="r" b="b" t="t" l="l"/>
              <a:pathLst>
                <a:path h="1178687" w="1381887">
                  <a:moveTo>
                    <a:pt x="0" y="0"/>
                  </a:moveTo>
                  <a:lnTo>
                    <a:pt x="1381887" y="0"/>
                  </a:lnTo>
                  <a:lnTo>
                    <a:pt x="1381887" y="1178687"/>
                  </a:lnTo>
                  <a:lnTo>
                    <a:pt x="0" y="1178687"/>
                  </a:lnTo>
                  <a:lnTo>
                    <a:pt x="0" y="0"/>
                  </a:lnTo>
                  <a:close/>
                </a:path>
              </a:pathLst>
            </a:custGeom>
            <a:blipFill>
              <a:blip r:embed="rId3"/>
              <a:stretch>
                <a:fillRect l="-146" t="0" r="-146" b="5"/>
              </a:stretch>
            </a:blipFill>
          </p:spPr>
        </p:sp>
      </p:grpSp>
      <p:grpSp>
        <p:nvGrpSpPr>
          <p:cNvPr name="Group 17" id="17"/>
          <p:cNvGrpSpPr/>
          <p:nvPr/>
        </p:nvGrpSpPr>
        <p:grpSpPr>
          <a:xfrm rot="0">
            <a:off x="81410" y="975360"/>
            <a:ext cx="9509760" cy="6194308"/>
            <a:chOff x="0" y="0"/>
            <a:chExt cx="12679680" cy="8259077"/>
          </a:xfrm>
        </p:grpSpPr>
        <p:sp>
          <p:nvSpPr>
            <p:cNvPr name="Freeform 18" id="18" descr="A close-up of a table  AI-generated content may be incorrect."/>
            <p:cNvSpPr/>
            <p:nvPr/>
          </p:nvSpPr>
          <p:spPr>
            <a:xfrm flipH="false" flipV="false" rot="0">
              <a:off x="0" y="0"/>
              <a:ext cx="12679680" cy="8259064"/>
            </a:xfrm>
            <a:custGeom>
              <a:avLst/>
              <a:gdLst/>
              <a:ahLst/>
              <a:cxnLst/>
              <a:rect r="r" b="b" t="t" l="l"/>
              <a:pathLst>
                <a:path h="8259064" w="12679680">
                  <a:moveTo>
                    <a:pt x="0" y="0"/>
                  </a:moveTo>
                  <a:lnTo>
                    <a:pt x="12679680" y="0"/>
                  </a:lnTo>
                  <a:lnTo>
                    <a:pt x="12679680" y="8259064"/>
                  </a:lnTo>
                  <a:lnTo>
                    <a:pt x="0" y="8259064"/>
                  </a:lnTo>
                  <a:lnTo>
                    <a:pt x="0" y="0"/>
                  </a:lnTo>
                  <a:close/>
                </a:path>
              </a:pathLst>
            </a:custGeom>
            <a:blipFill>
              <a:blip r:embed="rId4"/>
              <a:stretch>
                <a:fillRect l="0" t="-1174" r="0" b="-1174"/>
              </a:stretch>
            </a:blipFill>
          </p:spPr>
        </p:sp>
      </p:grpSp>
    </p:spTree>
  </p:cSld>
  <p:clrMapOvr>
    <a:masterClrMapping/>
  </p:clrMapOvr>
  <p:transition spd="fast">
    <p:fade/>
  </p:transition>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87680" y="-108290"/>
            <a:ext cx="8778240" cy="801024"/>
            <a:chOff x="0" y="0"/>
            <a:chExt cx="11704320" cy="1068032"/>
          </a:xfrm>
        </p:grpSpPr>
        <p:sp>
          <p:nvSpPr>
            <p:cNvPr name="Freeform 3" id="3"/>
            <p:cNvSpPr/>
            <p:nvPr/>
          </p:nvSpPr>
          <p:spPr>
            <a:xfrm flipH="false" flipV="false" rot="0">
              <a:off x="0" y="0"/>
              <a:ext cx="11704320" cy="1068032"/>
            </a:xfrm>
            <a:custGeom>
              <a:avLst/>
              <a:gdLst/>
              <a:ahLst/>
              <a:cxnLst/>
              <a:rect r="r" b="b" t="t" l="l"/>
              <a:pathLst>
                <a:path h="1068032" w="11704320">
                  <a:moveTo>
                    <a:pt x="0" y="0"/>
                  </a:moveTo>
                  <a:lnTo>
                    <a:pt x="11704320" y="0"/>
                  </a:lnTo>
                  <a:lnTo>
                    <a:pt x="11704320" y="1068032"/>
                  </a:lnTo>
                  <a:lnTo>
                    <a:pt x="0" y="1068032"/>
                  </a:lnTo>
                  <a:close/>
                </a:path>
              </a:pathLst>
            </a:custGeom>
            <a:blipFill>
              <a:blip r:embed="rId2">
                <a:alphaModFix amt="0"/>
              </a:blip>
              <a:stretch>
                <a:fillRect l="0" t="-163532" r="0" b="-163532"/>
              </a:stretch>
            </a:blipFill>
          </p:spPr>
        </p:sp>
        <p:sp>
          <p:nvSpPr>
            <p:cNvPr name="TextBox 4" id="4"/>
            <p:cNvSpPr txBox="true"/>
            <p:nvPr/>
          </p:nvSpPr>
          <p:spPr>
            <a:xfrm>
              <a:off x="0" y="-19050"/>
              <a:ext cx="11704320" cy="1087082"/>
            </a:xfrm>
            <a:prstGeom prst="rect">
              <a:avLst/>
            </a:prstGeom>
          </p:spPr>
          <p:txBody>
            <a:bodyPr anchor="ctr" rtlCol="false" tIns="0" lIns="0" bIns="0" rIns="0"/>
            <a:lstStyle/>
            <a:p>
              <a:pPr algn="ctr">
                <a:lnSpc>
                  <a:spcPts val="5120"/>
                </a:lnSpc>
              </a:pPr>
              <a:r>
                <a:rPr lang="en-US" sz="4266" b="true">
                  <a:solidFill>
                    <a:srgbClr val="FF0000"/>
                  </a:solidFill>
                  <a:latin typeface="Times New Roman Bold"/>
                  <a:ea typeface="Times New Roman Bold"/>
                  <a:cs typeface="Times New Roman Bold"/>
                  <a:sym typeface="Times New Roman Bold"/>
                </a:rPr>
                <a:t>2. Literature Survey</a:t>
              </a:r>
            </a:p>
          </p:txBody>
        </p:sp>
      </p:grpSp>
      <p:sp>
        <p:nvSpPr>
          <p:cNvPr name="TextBox 5" id="5"/>
          <p:cNvSpPr txBox="true"/>
          <p:nvPr/>
        </p:nvSpPr>
        <p:spPr>
          <a:xfrm rot="0">
            <a:off x="3259922" y="510435"/>
            <a:ext cx="3802847" cy="318278"/>
          </a:xfrm>
          <a:prstGeom prst="rect">
            <a:avLst/>
          </a:prstGeom>
        </p:spPr>
        <p:txBody>
          <a:bodyPr anchor="t" rtlCol="false" tIns="0" lIns="0" bIns="0" rIns="0">
            <a:spAutoFit/>
          </a:bodyPr>
          <a:lstStyle/>
          <a:p>
            <a:pPr algn="l">
              <a:lnSpc>
                <a:spcPts val="2304"/>
              </a:lnSpc>
            </a:pPr>
            <a:r>
              <a:rPr lang="en-US" sz="1920" b="true">
                <a:solidFill>
                  <a:srgbClr val="0070C0"/>
                </a:solidFill>
                <a:latin typeface="Times New Roman Bold"/>
                <a:ea typeface="Times New Roman Bold"/>
                <a:cs typeface="Times New Roman Bold"/>
                <a:sym typeface="Times New Roman Bold"/>
              </a:rPr>
              <a:t>Table 1: Literature Survey Table</a:t>
            </a:r>
          </a:p>
        </p:txBody>
      </p:sp>
      <p:grpSp>
        <p:nvGrpSpPr>
          <p:cNvPr name="Group 6" id="6"/>
          <p:cNvGrpSpPr/>
          <p:nvPr/>
        </p:nvGrpSpPr>
        <p:grpSpPr>
          <a:xfrm rot="0">
            <a:off x="8696830" y="-8449"/>
            <a:ext cx="1036415" cy="883968"/>
            <a:chOff x="0" y="0"/>
            <a:chExt cx="1381887" cy="1178624"/>
          </a:xfrm>
        </p:grpSpPr>
        <p:sp>
          <p:nvSpPr>
            <p:cNvPr name="Freeform 7" id="7"/>
            <p:cNvSpPr/>
            <p:nvPr/>
          </p:nvSpPr>
          <p:spPr>
            <a:xfrm flipH="false" flipV="false" rot="0">
              <a:off x="0" y="0"/>
              <a:ext cx="1381887" cy="1178687"/>
            </a:xfrm>
            <a:custGeom>
              <a:avLst/>
              <a:gdLst/>
              <a:ahLst/>
              <a:cxnLst/>
              <a:rect r="r" b="b" t="t" l="l"/>
              <a:pathLst>
                <a:path h="1178687" w="1381887">
                  <a:moveTo>
                    <a:pt x="0" y="0"/>
                  </a:moveTo>
                  <a:lnTo>
                    <a:pt x="1381887" y="0"/>
                  </a:lnTo>
                  <a:lnTo>
                    <a:pt x="1381887" y="1178687"/>
                  </a:lnTo>
                  <a:lnTo>
                    <a:pt x="0" y="1178687"/>
                  </a:lnTo>
                  <a:lnTo>
                    <a:pt x="0" y="0"/>
                  </a:lnTo>
                  <a:close/>
                </a:path>
              </a:pathLst>
            </a:custGeom>
            <a:blipFill>
              <a:blip r:embed="rId3"/>
              <a:stretch>
                <a:fillRect l="-146" t="0" r="-146" b="5"/>
              </a:stretch>
            </a:blipFill>
          </p:spPr>
        </p:sp>
      </p:grpSp>
      <p:grpSp>
        <p:nvGrpSpPr>
          <p:cNvPr name="Group 8" id="8"/>
          <p:cNvGrpSpPr/>
          <p:nvPr/>
        </p:nvGrpSpPr>
        <p:grpSpPr>
          <a:xfrm rot="0">
            <a:off x="0" y="975360"/>
            <a:ext cx="9753600" cy="5933570"/>
            <a:chOff x="0" y="0"/>
            <a:chExt cx="13004800" cy="7911427"/>
          </a:xfrm>
        </p:grpSpPr>
        <p:sp>
          <p:nvSpPr>
            <p:cNvPr name="Freeform 9" id="9" descr="A table of informational text  AI-generated content may be incorrect."/>
            <p:cNvSpPr/>
            <p:nvPr/>
          </p:nvSpPr>
          <p:spPr>
            <a:xfrm flipH="false" flipV="false" rot="0">
              <a:off x="0" y="0"/>
              <a:ext cx="13004800" cy="7911465"/>
            </a:xfrm>
            <a:custGeom>
              <a:avLst/>
              <a:gdLst/>
              <a:ahLst/>
              <a:cxnLst/>
              <a:rect r="r" b="b" t="t" l="l"/>
              <a:pathLst>
                <a:path h="7911465" w="13004800">
                  <a:moveTo>
                    <a:pt x="0" y="0"/>
                  </a:moveTo>
                  <a:lnTo>
                    <a:pt x="13004800" y="0"/>
                  </a:lnTo>
                  <a:lnTo>
                    <a:pt x="13004800" y="7911465"/>
                  </a:lnTo>
                  <a:lnTo>
                    <a:pt x="0" y="7911465"/>
                  </a:lnTo>
                  <a:lnTo>
                    <a:pt x="0" y="0"/>
                  </a:lnTo>
                  <a:close/>
                </a:path>
              </a:pathLst>
            </a:custGeom>
            <a:blipFill>
              <a:blip r:embed="rId4"/>
              <a:stretch>
                <a:fillRect l="0" t="-4793" r="0" b="-4792"/>
              </a:stretch>
            </a:blipFill>
          </p:spPr>
        </p:sp>
      </p:grpSp>
    </p:spTree>
  </p:cSld>
  <p:clrMapOvr>
    <a:masterClrMapping/>
  </p:clrMapOvr>
  <p:transition spd="fast">
    <p:fade/>
  </p:transition>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87680" y="-108290"/>
            <a:ext cx="8778240" cy="801024"/>
            <a:chOff x="0" y="0"/>
            <a:chExt cx="11704320" cy="1068032"/>
          </a:xfrm>
        </p:grpSpPr>
        <p:sp>
          <p:nvSpPr>
            <p:cNvPr name="Freeform 3" id="3"/>
            <p:cNvSpPr/>
            <p:nvPr/>
          </p:nvSpPr>
          <p:spPr>
            <a:xfrm flipH="false" flipV="false" rot="0">
              <a:off x="0" y="0"/>
              <a:ext cx="11704320" cy="1068032"/>
            </a:xfrm>
            <a:custGeom>
              <a:avLst/>
              <a:gdLst/>
              <a:ahLst/>
              <a:cxnLst/>
              <a:rect r="r" b="b" t="t" l="l"/>
              <a:pathLst>
                <a:path h="1068032" w="11704320">
                  <a:moveTo>
                    <a:pt x="0" y="0"/>
                  </a:moveTo>
                  <a:lnTo>
                    <a:pt x="11704320" y="0"/>
                  </a:lnTo>
                  <a:lnTo>
                    <a:pt x="11704320" y="1068032"/>
                  </a:lnTo>
                  <a:lnTo>
                    <a:pt x="0" y="1068032"/>
                  </a:lnTo>
                  <a:close/>
                </a:path>
              </a:pathLst>
            </a:custGeom>
            <a:blipFill>
              <a:blip r:embed="rId2">
                <a:alphaModFix amt="0"/>
              </a:blip>
              <a:stretch>
                <a:fillRect l="0" t="-163532" r="0" b="-163532"/>
              </a:stretch>
            </a:blipFill>
          </p:spPr>
        </p:sp>
        <p:sp>
          <p:nvSpPr>
            <p:cNvPr name="TextBox 4" id="4"/>
            <p:cNvSpPr txBox="true"/>
            <p:nvPr/>
          </p:nvSpPr>
          <p:spPr>
            <a:xfrm>
              <a:off x="0" y="-19050"/>
              <a:ext cx="11704320" cy="1087082"/>
            </a:xfrm>
            <a:prstGeom prst="rect">
              <a:avLst/>
            </a:prstGeom>
          </p:spPr>
          <p:txBody>
            <a:bodyPr anchor="ctr" rtlCol="false" tIns="0" lIns="0" bIns="0" rIns="0"/>
            <a:lstStyle/>
            <a:p>
              <a:pPr algn="ctr">
                <a:lnSpc>
                  <a:spcPts val="5120"/>
                </a:lnSpc>
              </a:pPr>
              <a:r>
                <a:rPr lang="en-US" sz="4266" b="true">
                  <a:solidFill>
                    <a:srgbClr val="FF0000"/>
                  </a:solidFill>
                  <a:latin typeface="Times New Roman Bold"/>
                  <a:ea typeface="Times New Roman Bold"/>
                  <a:cs typeface="Times New Roman Bold"/>
                  <a:sym typeface="Times New Roman Bold"/>
                </a:rPr>
                <a:t>2. Literature Survey</a:t>
              </a:r>
            </a:p>
          </p:txBody>
        </p:sp>
      </p:grpSp>
      <p:sp>
        <p:nvSpPr>
          <p:cNvPr name="TextBox 5" id="5"/>
          <p:cNvSpPr txBox="true"/>
          <p:nvPr/>
        </p:nvSpPr>
        <p:spPr>
          <a:xfrm rot="0">
            <a:off x="3259922" y="510435"/>
            <a:ext cx="3802847" cy="318278"/>
          </a:xfrm>
          <a:prstGeom prst="rect">
            <a:avLst/>
          </a:prstGeom>
        </p:spPr>
        <p:txBody>
          <a:bodyPr anchor="t" rtlCol="false" tIns="0" lIns="0" bIns="0" rIns="0">
            <a:spAutoFit/>
          </a:bodyPr>
          <a:lstStyle/>
          <a:p>
            <a:pPr algn="l">
              <a:lnSpc>
                <a:spcPts val="2304"/>
              </a:lnSpc>
            </a:pPr>
            <a:r>
              <a:rPr lang="en-US" sz="1920" b="true">
                <a:solidFill>
                  <a:srgbClr val="0070C0"/>
                </a:solidFill>
                <a:latin typeface="Times New Roman Bold"/>
                <a:ea typeface="Times New Roman Bold"/>
                <a:cs typeface="Times New Roman Bold"/>
                <a:sym typeface="Times New Roman Bold"/>
              </a:rPr>
              <a:t>Table 1: Literature Survey Table</a:t>
            </a:r>
          </a:p>
        </p:txBody>
      </p:sp>
      <p:grpSp>
        <p:nvGrpSpPr>
          <p:cNvPr name="Group 6" id="6"/>
          <p:cNvGrpSpPr/>
          <p:nvPr/>
        </p:nvGrpSpPr>
        <p:grpSpPr>
          <a:xfrm rot="0">
            <a:off x="8696830" y="-8449"/>
            <a:ext cx="1036415" cy="883968"/>
            <a:chOff x="0" y="0"/>
            <a:chExt cx="1381887" cy="1178624"/>
          </a:xfrm>
        </p:grpSpPr>
        <p:sp>
          <p:nvSpPr>
            <p:cNvPr name="Freeform 7" id="7"/>
            <p:cNvSpPr/>
            <p:nvPr/>
          </p:nvSpPr>
          <p:spPr>
            <a:xfrm flipH="false" flipV="false" rot="0">
              <a:off x="0" y="0"/>
              <a:ext cx="1381887" cy="1178687"/>
            </a:xfrm>
            <a:custGeom>
              <a:avLst/>
              <a:gdLst/>
              <a:ahLst/>
              <a:cxnLst/>
              <a:rect r="r" b="b" t="t" l="l"/>
              <a:pathLst>
                <a:path h="1178687" w="1381887">
                  <a:moveTo>
                    <a:pt x="0" y="0"/>
                  </a:moveTo>
                  <a:lnTo>
                    <a:pt x="1381887" y="0"/>
                  </a:lnTo>
                  <a:lnTo>
                    <a:pt x="1381887" y="1178687"/>
                  </a:lnTo>
                  <a:lnTo>
                    <a:pt x="0" y="1178687"/>
                  </a:lnTo>
                  <a:lnTo>
                    <a:pt x="0" y="0"/>
                  </a:lnTo>
                  <a:close/>
                </a:path>
              </a:pathLst>
            </a:custGeom>
            <a:blipFill>
              <a:blip r:embed="rId3"/>
              <a:stretch>
                <a:fillRect l="-146" t="0" r="-146" b="5"/>
              </a:stretch>
            </a:blipFill>
          </p:spPr>
        </p:sp>
      </p:grpSp>
      <p:grpSp>
        <p:nvGrpSpPr>
          <p:cNvPr name="Group 8" id="8"/>
          <p:cNvGrpSpPr/>
          <p:nvPr/>
        </p:nvGrpSpPr>
        <p:grpSpPr>
          <a:xfrm rot="0">
            <a:off x="0" y="975360"/>
            <a:ext cx="9753600" cy="5933570"/>
            <a:chOff x="0" y="0"/>
            <a:chExt cx="13004800" cy="7911427"/>
          </a:xfrm>
        </p:grpSpPr>
        <p:sp>
          <p:nvSpPr>
            <p:cNvPr name="Freeform 9" id="9" descr="A table of information on a white surface  AI-generated content may be incorrect."/>
            <p:cNvSpPr/>
            <p:nvPr/>
          </p:nvSpPr>
          <p:spPr>
            <a:xfrm flipH="false" flipV="false" rot="0">
              <a:off x="0" y="0"/>
              <a:ext cx="13004800" cy="7911465"/>
            </a:xfrm>
            <a:custGeom>
              <a:avLst/>
              <a:gdLst/>
              <a:ahLst/>
              <a:cxnLst/>
              <a:rect r="r" b="b" t="t" l="l"/>
              <a:pathLst>
                <a:path h="7911465" w="13004800">
                  <a:moveTo>
                    <a:pt x="0" y="0"/>
                  </a:moveTo>
                  <a:lnTo>
                    <a:pt x="13004800" y="0"/>
                  </a:lnTo>
                  <a:lnTo>
                    <a:pt x="13004800" y="7911465"/>
                  </a:lnTo>
                  <a:lnTo>
                    <a:pt x="0" y="7911465"/>
                  </a:lnTo>
                  <a:lnTo>
                    <a:pt x="0" y="0"/>
                  </a:lnTo>
                  <a:close/>
                </a:path>
              </a:pathLst>
            </a:custGeom>
            <a:blipFill>
              <a:blip r:embed="rId4"/>
              <a:stretch>
                <a:fillRect l="0" t="-4793" r="0" b="-4792"/>
              </a:stretch>
            </a:blipFill>
          </p:spPr>
        </p:sp>
      </p:grpSp>
    </p:spTree>
  </p:cSld>
  <p:clrMapOvr>
    <a:masterClrMapping/>
  </p:clrMapOvr>
  <p:transition spd="fast">
    <p:fade/>
  </p:transition>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1410" y="-381"/>
            <a:ext cx="9672190" cy="1219200"/>
            <a:chOff x="0" y="0"/>
            <a:chExt cx="12896253" cy="1625600"/>
          </a:xfrm>
        </p:grpSpPr>
        <p:sp>
          <p:nvSpPr>
            <p:cNvPr name="Freeform 3" id="3"/>
            <p:cNvSpPr/>
            <p:nvPr/>
          </p:nvSpPr>
          <p:spPr>
            <a:xfrm flipH="false" flipV="false" rot="0">
              <a:off x="0" y="0"/>
              <a:ext cx="12896256" cy="1625600"/>
            </a:xfrm>
            <a:custGeom>
              <a:avLst/>
              <a:gdLst/>
              <a:ahLst/>
              <a:cxnLst/>
              <a:rect r="r" b="b" t="t" l="l"/>
              <a:pathLst>
                <a:path h="1625600" w="12896256">
                  <a:moveTo>
                    <a:pt x="0" y="0"/>
                  </a:moveTo>
                  <a:lnTo>
                    <a:pt x="12896256" y="0"/>
                  </a:lnTo>
                  <a:lnTo>
                    <a:pt x="12896256" y="1625600"/>
                  </a:lnTo>
                  <a:lnTo>
                    <a:pt x="0" y="1625600"/>
                  </a:lnTo>
                  <a:close/>
                </a:path>
              </a:pathLst>
            </a:custGeom>
            <a:blipFill>
              <a:blip r:embed="rId2">
                <a:alphaModFix amt="0"/>
              </a:blip>
              <a:stretch>
                <a:fillRect l="0" t="-104579" r="0" b="-104579"/>
              </a:stretch>
            </a:blipFill>
          </p:spPr>
        </p:sp>
        <p:sp>
          <p:nvSpPr>
            <p:cNvPr name="TextBox 4" id="4"/>
            <p:cNvSpPr txBox="true"/>
            <p:nvPr/>
          </p:nvSpPr>
          <p:spPr>
            <a:xfrm>
              <a:off x="0" y="-19050"/>
              <a:ext cx="12896253" cy="1644650"/>
            </a:xfrm>
            <a:prstGeom prst="rect">
              <a:avLst/>
            </a:prstGeom>
          </p:spPr>
          <p:txBody>
            <a:bodyPr anchor="ctr" rtlCol="false" tIns="0" lIns="0" bIns="0" rIns="0"/>
            <a:lstStyle/>
            <a:p>
              <a:pPr algn="ctr">
                <a:lnSpc>
                  <a:spcPts val="4095"/>
                </a:lnSpc>
              </a:pPr>
              <a:r>
                <a:rPr lang="en-US" sz="3413" b="true">
                  <a:solidFill>
                    <a:srgbClr val="FF0000"/>
                  </a:solidFill>
                  <a:latin typeface="Times New Roman Bold"/>
                  <a:ea typeface="Times New Roman Bold"/>
                  <a:cs typeface="Times New Roman Bold"/>
                  <a:sym typeface="Times New Roman Bold"/>
                </a:rPr>
                <a:t>3. RESEARCH GAP IDENTIFICATION</a:t>
              </a:r>
            </a:p>
          </p:txBody>
        </p:sp>
      </p:grpSp>
      <p:grpSp>
        <p:nvGrpSpPr>
          <p:cNvPr name="Group 5" id="5"/>
          <p:cNvGrpSpPr/>
          <p:nvPr/>
        </p:nvGrpSpPr>
        <p:grpSpPr>
          <a:xfrm rot="0">
            <a:off x="8859650" y="-8449"/>
            <a:ext cx="873604" cy="739969"/>
            <a:chOff x="0" y="0"/>
            <a:chExt cx="1164806" cy="986625"/>
          </a:xfrm>
        </p:grpSpPr>
        <p:sp>
          <p:nvSpPr>
            <p:cNvPr name="Freeform 6" id="6"/>
            <p:cNvSpPr/>
            <p:nvPr/>
          </p:nvSpPr>
          <p:spPr>
            <a:xfrm flipH="false" flipV="false" rot="0">
              <a:off x="0" y="0"/>
              <a:ext cx="1164844" cy="986663"/>
            </a:xfrm>
            <a:custGeom>
              <a:avLst/>
              <a:gdLst/>
              <a:ahLst/>
              <a:cxnLst/>
              <a:rect r="r" b="b" t="t" l="l"/>
              <a:pathLst>
                <a:path h="986663" w="1164844">
                  <a:moveTo>
                    <a:pt x="0" y="0"/>
                  </a:moveTo>
                  <a:lnTo>
                    <a:pt x="1164844" y="0"/>
                  </a:lnTo>
                  <a:lnTo>
                    <a:pt x="1164844" y="986663"/>
                  </a:lnTo>
                  <a:lnTo>
                    <a:pt x="0" y="986663"/>
                  </a:lnTo>
                  <a:lnTo>
                    <a:pt x="0" y="0"/>
                  </a:lnTo>
                  <a:close/>
                </a:path>
              </a:pathLst>
            </a:custGeom>
            <a:blipFill>
              <a:blip r:embed="rId3"/>
              <a:stretch>
                <a:fillRect l="0" t="-39" r="3" b="-37"/>
              </a:stretch>
            </a:blipFill>
          </p:spPr>
        </p:sp>
      </p:grpSp>
      <p:grpSp>
        <p:nvGrpSpPr>
          <p:cNvPr name="Group 7" id="7"/>
          <p:cNvGrpSpPr/>
          <p:nvPr/>
        </p:nvGrpSpPr>
        <p:grpSpPr>
          <a:xfrm rot="0">
            <a:off x="202749" y="1406976"/>
            <a:ext cx="8981380" cy="4826112"/>
            <a:chOff x="0" y="0"/>
            <a:chExt cx="11975173" cy="6434816"/>
          </a:xfrm>
        </p:grpSpPr>
        <p:sp>
          <p:nvSpPr>
            <p:cNvPr name="Freeform 8" id="8"/>
            <p:cNvSpPr/>
            <p:nvPr/>
          </p:nvSpPr>
          <p:spPr>
            <a:xfrm flipH="false" flipV="false" rot="0">
              <a:off x="0" y="0"/>
              <a:ext cx="11975168" cy="6434822"/>
            </a:xfrm>
            <a:custGeom>
              <a:avLst/>
              <a:gdLst/>
              <a:ahLst/>
              <a:cxnLst/>
              <a:rect r="r" b="b" t="t" l="l"/>
              <a:pathLst>
                <a:path h="6434822" w="11975168">
                  <a:moveTo>
                    <a:pt x="0" y="0"/>
                  </a:moveTo>
                  <a:lnTo>
                    <a:pt x="11975168" y="0"/>
                  </a:lnTo>
                  <a:lnTo>
                    <a:pt x="11975168" y="6434822"/>
                  </a:lnTo>
                  <a:lnTo>
                    <a:pt x="0" y="6434822"/>
                  </a:lnTo>
                  <a:close/>
                </a:path>
              </a:pathLst>
            </a:custGeom>
            <a:blipFill>
              <a:blip r:embed="rId2">
                <a:alphaModFix amt="0"/>
              </a:blip>
              <a:stretch>
                <a:fillRect l="-18943" t="0" r="-18943" b="0"/>
              </a:stretch>
            </a:blipFill>
          </p:spPr>
        </p:sp>
        <p:sp>
          <p:nvSpPr>
            <p:cNvPr name="TextBox 9" id="9"/>
            <p:cNvSpPr txBox="true"/>
            <p:nvPr/>
          </p:nvSpPr>
          <p:spPr>
            <a:xfrm>
              <a:off x="0" y="-47625"/>
              <a:ext cx="11975173" cy="6482441"/>
            </a:xfrm>
            <a:prstGeom prst="rect">
              <a:avLst/>
            </a:prstGeom>
          </p:spPr>
          <p:txBody>
            <a:bodyPr anchor="ctr" rtlCol="false" tIns="0" lIns="0" bIns="0" rIns="0"/>
            <a:lstStyle/>
            <a:p>
              <a:pPr algn="just">
                <a:lnSpc>
                  <a:spcPts val="2304"/>
                </a:lnSpc>
              </a:pPr>
              <a:r>
                <a:rPr lang="en-US" sz="1920" b="true">
                  <a:solidFill>
                    <a:srgbClr val="000000"/>
                  </a:solidFill>
                  <a:latin typeface="Calibri (MS) Bold"/>
                  <a:ea typeface="Calibri (MS) Bold"/>
                  <a:cs typeface="Calibri (MS) Bold"/>
                  <a:sym typeface="Calibri (MS) Bold"/>
                </a:rPr>
                <a:t>1. Limited Multimodal Data Fusion </a:t>
              </a:r>
              <a:r>
                <a:rPr lang="en-US" b="true" sz="1920" i="true">
                  <a:solidFill>
                    <a:srgbClr val="000000"/>
                  </a:solidFill>
                  <a:latin typeface="Calibri (MS) Bold Italics"/>
                  <a:ea typeface="Calibri (MS) Bold Italics"/>
                  <a:cs typeface="Calibri (MS) Bold Italics"/>
                  <a:sym typeface="Calibri (MS) Bold Italics"/>
                </a:rPr>
                <a:t>(Refs. 1, 2, 4, 7, 15)</a:t>
              </a:r>
            </a:p>
            <a:p>
              <a:pPr algn="just" marL="734771" indent="-244924" lvl="2">
                <a:lnSpc>
                  <a:spcPts val="2304"/>
                </a:lnSpc>
                <a:buFont typeface="Arial"/>
                <a:buChar char="⚬"/>
              </a:pPr>
              <a:r>
                <a:rPr lang="en-US" sz="1920">
                  <a:solidFill>
                    <a:srgbClr val="000000"/>
                  </a:solidFill>
                  <a:latin typeface="Arial"/>
                  <a:ea typeface="Arial"/>
                  <a:cs typeface="Arial"/>
                  <a:sym typeface="Arial"/>
                </a:rPr>
                <a:t>Existing systems process only one or two data modalities (e.g., images or text) and fail to integrate </a:t>
              </a:r>
              <a:r>
                <a:rPr lang="en-US" b="true" sz="1920">
                  <a:solidFill>
                    <a:srgbClr val="000000"/>
                  </a:solidFill>
                  <a:latin typeface="Arial Bold"/>
                  <a:ea typeface="Arial Bold"/>
                  <a:cs typeface="Arial Bold"/>
                  <a:sym typeface="Arial Bold"/>
                </a:rPr>
                <a:t>vision, speech, GPS, weather, and contextual information</a:t>
              </a:r>
              <a:r>
                <a:rPr lang="en-US" sz="1920">
                  <a:solidFill>
                    <a:srgbClr val="000000"/>
                  </a:solidFill>
                  <a:latin typeface="Arial"/>
                  <a:ea typeface="Arial"/>
                  <a:cs typeface="Arial"/>
                  <a:sym typeface="Arial"/>
                </a:rPr>
                <a:t> for comprehensive emergency assessment.</a:t>
              </a:r>
            </a:p>
            <a:p>
              <a:pPr algn="just">
                <a:lnSpc>
                  <a:spcPts val="2304"/>
                </a:lnSpc>
              </a:pPr>
              <a:r>
                <a:rPr lang="en-US" sz="1920" b="true">
                  <a:solidFill>
                    <a:srgbClr val="000000"/>
                  </a:solidFill>
                  <a:latin typeface="Arial Bold"/>
                  <a:ea typeface="Arial Bold"/>
                  <a:cs typeface="Arial Bold"/>
                  <a:sym typeface="Arial Bold"/>
                </a:rPr>
                <a:t>2.</a:t>
              </a:r>
              <a:r>
                <a:rPr lang="en-US" sz="1920">
                  <a:solidFill>
                    <a:srgbClr val="000000"/>
                  </a:solidFill>
                  <a:latin typeface="Arial"/>
                  <a:ea typeface="Arial"/>
                  <a:cs typeface="Arial"/>
                  <a:sym typeface="Arial"/>
                </a:rPr>
                <a:t> </a:t>
              </a:r>
              <a:r>
                <a:rPr lang="en-US" sz="1920" b="true">
                  <a:solidFill>
                    <a:srgbClr val="000000"/>
                  </a:solidFill>
                  <a:latin typeface="Arial Bold"/>
                  <a:ea typeface="Arial Bold"/>
                  <a:cs typeface="Arial Bold"/>
                  <a:sym typeface="Arial Bold"/>
                </a:rPr>
                <a:t>Lack of Automated Real-Time Emergency Triage</a:t>
              </a:r>
              <a:r>
                <a:rPr lang="en-US" sz="1920">
                  <a:solidFill>
                    <a:srgbClr val="000000"/>
                  </a:solidFill>
                  <a:latin typeface="Arial"/>
                  <a:ea typeface="Arial"/>
                  <a:cs typeface="Arial"/>
                  <a:sym typeface="Arial"/>
                </a:rPr>
                <a:t> </a:t>
              </a:r>
              <a:r>
                <a:rPr lang="en-US" sz="1920" i="true">
                  <a:solidFill>
                    <a:srgbClr val="000000"/>
                  </a:solidFill>
                  <a:latin typeface="Arial Italics"/>
                  <a:ea typeface="Arial Italics"/>
                  <a:cs typeface="Arial Italics"/>
                  <a:sym typeface="Arial Italics"/>
                </a:rPr>
                <a:t>(Refs. </a:t>
              </a:r>
              <a:r>
                <a:rPr lang="en-US" b="true" sz="1920" i="true">
                  <a:solidFill>
                    <a:srgbClr val="000000"/>
                  </a:solidFill>
                  <a:latin typeface="Arial Bold Italics"/>
                  <a:ea typeface="Arial Bold Italics"/>
                  <a:cs typeface="Arial Bold Italics"/>
                  <a:sym typeface="Arial Bold Italics"/>
                </a:rPr>
                <a:t>8, 9, 10</a:t>
              </a:r>
              <a:r>
                <a:rPr lang="en-US" sz="1920" i="true">
                  <a:solidFill>
                    <a:srgbClr val="000000"/>
                  </a:solidFill>
                  <a:latin typeface="Arial Italics"/>
                  <a:ea typeface="Arial Italics"/>
                  <a:cs typeface="Arial Italics"/>
                  <a:sym typeface="Arial Italics"/>
                </a:rPr>
                <a:t>)</a:t>
              </a:r>
            </a:p>
            <a:p>
              <a:pPr algn="just" marL="734771" indent="-244924" lvl="2">
                <a:lnSpc>
                  <a:spcPts val="2304"/>
                </a:lnSpc>
                <a:buFont typeface="Arial"/>
                <a:buChar char="⚬"/>
              </a:pPr>
              <a:r>
                <a:rPr lang="en-US" sz="1920">
                  <a:solidFill>
                    <a:srgbClr val="000000"/>
                  </a:solidFill>
                  <a:latin typeface="Arial"/>
                  <a:ea typeface="Arial"/>
                  <a:cs typeface="Arial"/>
                  <a:sym typeface="Arial"/>
                </a:rPr>
                <a:t>Current emergency response systems assist responders but do not automatically </a:t>
              </a:r>
              <a:r>
                <a:rPr lang="en-US" b="true" sz="1920">
                  <a:solidFill>
                    <a:srgbClr val="000000"/>
                  </a:solidFill>
                  <a:latin typeface="Arial Bold"/>
                  <a:ea typeface="Arial Bold"/>
                  <a:cs typeface="Arial Bold"/>
                  <a:sym typeface="Arial Bold"/>
                </a:rPr>
                <a:t>assess incident severity, classify emergencies, and prioritize response</a:t>
              </a:r>
              <a:r>
                <a:rPr lang="en-US" sz="1920">
                  <a:solidFill>
                    <a:srgbClr val="000000"/>
                  </a:solidFill>
                  <a:latin typeface="Arial"/>
                  <a:ea typeface="Arial"/>
                  <a:cs typeface="Arial"/>
                  <a:sym typeface="Arial"/>
                </a:rPr>
                <a:t> in real time.</a:t>
              </a:r>
            </a:p>
            <a:p>
              <a:pPr algn="just">
                <a:lnSpc>
                  <a:spcPts val="2304"/>
                </a:lnSpc>
              </a:pPr>
              <a:r>
                <a:rPr lang="en-US" sz="1920" b="true">
                  <a:solidFill>
                    <a:srgbClr val="000000"/>
                  </a:solidFill>
                  <a:latin typeface="Arial Bold"/>
                  <a:ea typeface="Arial Bold"/>
                  <a:cs typeface="Arial Bold"/>
                  <a:sym typeface="Arial Bold"/>
                </a:rPr>
                <a:t>3.</a:t>
              </a:r>
              <a:r>
                <a:rPr lang="en-US" sz="1920">
                  <a:solidFill>
                    <a:srgbClr val="000000"/>
                  </a:solidFill>
                  <a:latin typeface="Arial"/>
                  <a:ea typeface="Arial"/>
                  <a:cs typeface="Arial"/>
                  <a:sym typeface="Arial"/>
                </a:rPr>
                <a:t> </a:t>
              </a:r>
              <a:r>
                <a:rPr lang="en-US" sz="1920" b="true">
                  <a:solidFill>
                    <a:srgbClr val="000000"/>
                  </a:solidFill>
                  <a:latin typeface="Arial Bold"/>
                  <a:ea typeface="Arial Bold"/>
                  <a:cs typeface="Arial Bold"/>
                  <a:sym typeface="Arial Bold"/>
                </a:rPr>
                <a:t>Dependence on Cloud Infrastructure</a:t>
              </a:r>
              <a:r>
                <a:rPr lang="en-US" sz="1920">
                  <a:solidFill>
                    <a:srgbClr val="000000"/>
                  </a:solidFill>
                  <a:latin typeface="Arial"/>
                  <a:ea typeface="Arial"/>
                  <a:cs typeface="Arial"/>
                  <a:sym typeface="Arial"/>
                </a:rPr>
                <a:t> </a:t>
              </a:r>
              <a:r>
                <a:rPr lang="en-US" sz="1920" i="true">
                  <a:solidFill>
                    <a:srgbClr val="000000"/>
                  </a:solidFill>
                  <a:latin typeface="Arial Italics"/>
                  <a:ea typeface="Arial Italics"/>
                  <a:cs typeface="Arial Italics"/>
                  <a:sym typeface="Arial Italics"/>
                </a:rPr>
                <a:t>(Refs. </a:t>
              </a:r>
              <a:r>
                <a:rPr lang="en-US" b="true" sz="1920" i="true">
                  <a:solidFill>
                    <a:srgbClr val="000000"/>
                  </a:solidFill>
                  <a:latin typeface="Arial Bold Italics"/>
                  <a:ea typeface="Arial Bold Italics"/>
                  <a:cs typeface="Arial Bold Italics"/>
                  <a:sym typeface="Arial Bold Italics"/>
                </a:rPr>
                <a:t>1, 12, 15</a:t>
              </a:r>
              <a:r>
                <a:rPr lang="en-US" sz="1920" i="true">
                  <a:solidFill>
                    <a:srgbClr val="000000"/>
                  </a:solidFill>
                  <a:latin typeface="Arial Italics"/>
                  <a:ea typeface="Arial Italics"/>
                  <a:cs typeface="Arial Italics"/>
                  <a:sym typeface="Arial Italics"/>
                </a:rPr>
                <a:t>)</a:t>
              </a:r>
            </a:p>
            <a:p>
              <a:pPr algn="just" marL="734771" indent="-244924" lvl="2">
                <a:lnSpc>
                  <a:spcPts val="2304"/>
                </a:lnSpc>
                <a:buFont typeface="Arial"/>
                <a:buChar char="⚬"/>
              </a:pPr>
              <a:r>
                <a:rPr lang="en-US" sz="1920">
                  <a:solidFill>
                    <a:srgbClr val="000000"/>
                  </a:solidFill>
                  <a:latin typeface="Arial"/>
                  <a:ea typeface="Arial"/>
                  <a:cs typeface="Arial"/>
                  <a:sym typeface="Arial"/>
                </a:rPr>
                <a:t>Most AI-based emergency systems rely on cloud computing, resulting in </a:t>
              </a:r>
              <a:r>
                <a:rPr lang="en-US" b="true" sz="1920">
                  <a:solidFill>
                    <a:srgbClr val="000000"/>
                  </a:solidFill>
                  <a:latin typeface="Arial Bold"/>
                  <a:ea typeface="Arial Bold"/>
                  <a:cs typeface="Arial Bold"/>
                  <a:sym typeface="Arial Bold"/>
                </a:rPr>
                <a:t>high latency and poor performance during communication or network failures</a:t>
              </a:r>
              <a:r>
                <a:rPr lang="en-US" sz="1920">
                  <a:solidFill>
                    <a:srgbClr val="000000"/>
                  </a:solidFill>
                  <a:latin typeface="Arial"/>
                  <a:ea typeface="Arial"/>
                  <a:cs typeface="Arial"/>
                  <a:sym typeface="Arial"/>
                </a:rPr>
                <a:t>.</a:t>
              </a:r>
            </a:p>
            <a:p>
              <a:pPr algn="just">
                <a:lnSpc>
                  <a:spcPts val="2304"/>
                </a:lnSpc>
              </a:pPr>
              <a:r>
                <a:rPr lang="en-US" sz="1920" b="true">
                  <a:solidFill>
                    <a:srgbClr val="000000"/>
                  </a:solidFill>
                  <a:latin typeface="Arial Bold"/>
                  <a:ea typeface="Arial Bold"/>
                  <a:cs typeface="Arial Bold"/>
                  <a:sym typeface="Arial Bold"/>
                </a:rPr>
                <a:t>4.</a:t>
              </a:r>
              <a:r>
                <a:rPr lang="en-US" sz="1920">
                  <a:solidFill>
                    <a:srgbClr val="000000"/>
                  </a:solidFill>
                  <a:latin typeface="Arial"/>
                  <a:ea typeface="Arial"/>
                  <a:cs typeface="Arial"/>
                  <a:sym typeface="Arial"/>
                </a:rPr>
                <a:t> </a:t>
              </a:r>
              <a:r>
                <a:rPr lang="en-US" sz="1920" b="true">
                  <a:solidFill>
                    <a:srgbClr val="000000"/>
                  </a:solidFill>
                  <a:latin typeface="Arial Bold"/>
                  <a:ea typeface="Arial Bold"/>
                  <a:cs typeface="Arial Bold"/>
                  <a:sym typeface="Arial Bold"/>
                </a:rPr>
                <a:t>Insufficient Context-Aware Decision Making</a:t>
              </a:r>
              <a:r>
                <a:rPr lang="en-US" sz="1920">
                  <a:solidFill>
                    <a:srgbClr val="000000"/>
                  </a:solidFill>
                  <a:latin typeface="Arial"/>
                  <a:ea typeface="Arial"/>
                  <a:cs typeface="Arial"/>
                  <a:sym typeface="Arial"/>
                </a:rPr>
                <a:t> </a:t>
              </a:r>
              <a:r>
                <a:rPr lang="en-US" sz="1920" i="true">
                  <a:solidFill>
                    <a:srgbClr val="000000"/>
                  </a:solidFill>
                  <a:latin typeface="Arial Italics"/>
                  <a:ea typeface="Arial Italics"/>
                  <a:cs typeface="Arial Italics"/>
                  <a:sym typeface="Arial Italics"/>
                </a:rPr>
                <a:t>(Refs. </a:t>
              </a:r>
              <a:r>
                <a:rPr lang="en-US" b="true" sz="1920" i="true">
                  <a:solidFill>
                    <a:srgbClr val="000000"/>
                  </a:solidFill>
                  <a:latin typeface="Arial Bold Italics"/>
                  <a:ea typeface="Arial Bold Italics"/>
                  <a:cs typeface="Arial Bold Italics"/>
                  <a:sym typeface="Arial Bold Italics"/>
                </a:rPr>
                <a:t>2, 8, 9, 10, 15</a:t>
              </a:r>
              <a:r>
                <a:rPr lang="en-US" sz="1920" i="true">
                  <a:solidFill>
                    <a:srgbClr val="000000"/>
                  </a:solidFill>
                  <a:latin typeface="Arial Italics"/>
                  <a:ea typeface="Arial Italics"/>
                  <a:cs typeface="Arial Italics"/>
                  <a:sym typeface="Arial Italics"/>
                </a:rPr>
                <a:t>)</a:t>
              </a:r>
            </a:p>
            <a:p>
              <a:pPr algn="just" marL="734771" indent="-244924" lvl="2">
                <a:lnSpc>
                  <a:spcPts val="2304"/>
                </a:lnSpc>
                <a:buFont typeface="Arial"/>
                <a:buChar char="⚬"/>
              </a:pPr>
              <a:r>
                <a:rPr lang="en-US" sz="1920">
                  <a:solidFill>
                    <a:srgbClr val="000000"/>
                  </a:solidFill>
                  <a:latin typeface="Arial"/>
                  <a:ea typeface="Arial"/>
                  <a:cs typeface="Arial"/>
                  <a:sym typeface="Arial"/>
                </a:rPr>
                <a:t>Existing approaches do not effectively combine </a:t>
              </a:r>
              <a:r>
                <a:rPr lang="en-US" b="true" sz="1920">
                  <a:solidFill>
                    <a:srgbClr val="000000"/>
                  </a:solidFill>
                  <a:latin typeface="Arial Bold"/>
                  <a:ea typeface="Arial Bold"/>
                  <a:cs typeface="Arial Bold"/>
                  <a:sym typeface="Arial Bold"/>
                </a:rPr>
                <a:t>GIS, weather conditions, nearby emergency facilities, and social-temporal information</a:t>
              </a:r>
              <a:r>
                <a:rPr lang="en-US" sz="1920">
                  <a:solidFill>
                    <a:srgbClr val="000000"/>
                  </a:solidFill>
                  <a:latin typeface="Arial"/>
                  <a:ea typeface="Arial"/>
                  <a:cs typeface="Arial"/>
                  <a:sym typeface="Arial"/>
                </a:rPr>
                <a:t> for intelligent emergency decision-making.</a:t>
              </a:r>
            </a:p>
          </p:txBody>
        </p:sp>
      </p:grpSp>
    </p:spTree>
  </p:cSld>
  <p:clrMapOvr>
    <a:masterClrMapping/>
  </p:clrMapOvr>
  <p:transition spd="fast">
    <p:fade/>
  </p:transition>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1410" y="26880"/>
            <a:ext cx="9672190" cy="1219200"/>
            <a:chOff x="0" y="0"/>
            <a:chExt cx="12896253" cy="1625600"/>
          </a:xfrm>
        </p:grpSpPr>
        <p:sp>
          <p:nvSpPr>
            <p:cNvPr name="Freeform 3" id="3"/>
            <p:cNvSpPr/>
            <p:nvPr/>
          </p:nvSpPr>
          <p:spPr>
            <a:xfrm flipH="false" flipV="false" rot="0">
              <a:off x="0" y="0"/>
              <a:ext cx="12896256" cy="1625600"/>
            </a:xfrm>
            <a:custGeom>
              <a:avLst/>
              <a:gdLst/>
              <a:ahLst/>
              <a:cxnLst/>
              <a:rect r="r" b="b" t="t" l="l"/>
              <a:pathLst>
                <a:path h="1625600" w="12896256">
                  <a:moveTo>
                    <a:pt x="0" y="0"/>
                  </a:moveTo>
                  <a:lnTo>
                    <a:pt x="12896256" y="0"/>
                  </a:lnTo>
                  <a:lnTo>
                    <a:pt x="12896256" y="1625600"/>
                  </a:lnTo>
                  <a:lnTo>
                    <a:pt x="0" y="1625600"/>
                  </a:lnTo>
                  <a:close/>
                </a:path>
              </a:pathLst>
            </a:custGeom>
            <a:blipFill>
              <a:blip r:embed="rId2">
                <a:alphaModFix amt="0"/>
              </a:blip>
              <a:stretch>
                <a:fillRect l="0" t="-104579" r="0" b="-104579"/>
              </a:stretch>
            </a:blipFill>
          </p:spPr>
        </p:sp>
        <p:sp>
          <p:nvSpPr>
            <p:cNvPr name="TextBox 4" id="4"/>
            <p:cNvSpPr txBox="true"/>
            <p:nvPr/>
          </p:nvSpPr>
          <p:spPr>
            <a:xfrm>
              <a:off x="0" y="-19050"/>
              <a:ext cx="12896253" cy="1644650"/>
            </a:xfrm>
            <a:prstGeom prst="rect">
              <a:avLst/>
            </a:prstGeom>
          </p:spPr>
          <p:txBody>
            <a:bodyPr anchor="ctr" rtlCol="false" tIns="0" lIns="0" bIns="0" rIns="0"/>
            <a:lstStyle/>
            <a:p>
              <a:pPr algn="ctr">
                <a:lnSpc>
                  <a:spcPts val="4095"/>
                </a:lnSpc>
              </a:pPr>
              <a:r>
                <a:rPr lang="en-US" sz="3413" b="true">
                  <a:solidFill>
                    <a:srgbClr val="FF0000"/>
                  </a:solidFill>
                  <a:latin typeface="Times New Roman Bold"/>
                  <a:ea typeface="Times New Roman Bold"/>
                  <a:cs typeface="Times New Roman Bold"/>
                  <a:sym typeface="Times New Roman Bold"/>
                </a:rPr>
                <a:t>3. RESEARCH GAP IDENTIFICATION (Cont.…)</a:t>
              </a:r>
            </a:p>
          </p:txBody>
        </p:sp>
      </p:grpSp>
      <p:sp>
        <p:nvSpPr>
          <p:cNvPr name="TextBox 5" id="5"/>
          <p:cNvSpPr txBox="true"/>
          <p:nvPr/>
        </p:nvSpPr>
        <p:spPr>
          <a:xfrm rot="0">
            <a:off x="294580" y="1616812"/>
            <a:ext cx="9164450" cy="4698187"/>
          </a:xfrm>
          <a:prstGeom prst="rect">
            <a:avLst/>
          </a:prstGeom>
        </p:spPr>
        <p:txBody>
          <a:bodyPr anchor="t" rtlCol="false" tIns="0" lIns="0" bIns="0" rIns="0">
            <a:spAutoFit/>
          </a:bodyPr>
          <a:lstStyle/>
          <a:p>
            <a:pPr algn="l">
              <a:lnSpc>
                <a:spcPts val="2304"/>
              </a:lnSpc>
            </a:pPr>
          </a:p>
          <a:p>
            <a:pPr algn="just">
              <a:lnSpc>
                <a:spcPts val="2304"/>
              </a:lnSpc>
            </a:pPr>
            <a:r>
              <a:rPr lang="en-US" sz="1920" b="true">
                <a:solidFill>
                  <a:srgbClr val="000000"/>
                </a:solidFill>
                <a:latin typeface="Arial Bold"/>
                <a:ea typeface="Arial Bold"/>
                <a:cs typeface="Arial Bold"/>
                <a:sym typeface="Arial Bold"/>
              </a:rPr>
              <a:t>5. </a:t>
            </a:r>
            <a:r>
              <a:rPr lang="en-US" sz="1920" b="true">
                <a:solidFill>
                  <a:srgbClr val="000000"/>
                </a:solidFill>
                <a:latin typeface="Arial Bold"/>
                <a:ea typeface="Arial Bold"/>
                <a:cs typeface="Arial Bold"/>
                <a:sym typeface="Arial Bold"/>
              </a:rPr>
              <a:t>Privacy and Information Leakage</a:t>
            </a:r>
            <a:r>
              <a:rPr lang="en-US" sz="1920">
                <a:solidFill>
                  <a:srgbClr val="000000"/>
                </a:solidFill>
                <a:latin typeface="Arial"/>
                <a:ea typeface="Arial"/>
                <a:cs typeface="Arial"/>
                <a:sym typeface="Arial"/>
              </a:rPr>
              <a:t> </a:t>
            </a:r>
            <a:r>
              <a:rPr lang="en-US" sz="1920" i="true">
                <a:solidFill>
                  <a:srgbClr val="000000"/>
                </a:solidFill>
                <a:latin typeface="Arial Italics"/>
                <a:ea typeface="Arial Italics"/>
                <a:cs typeface="Arial Italics"/>
                <a:sym typeface="Arial Italics"/>
              </a:rPr>
              <a:t>(Ref. </a:t>
            </a:r>
            <a:r>
              <a:rPr lang="en-US" b="true" sz="1920" i="true">
                <a:solidFill>
                  <a:srgbClr val="000000"/>
                </a:solidFill>
                <a:latin typeface="Arial Bold Italics"/>
                <a:ea typeface="Arial Bold Italics"/>
                <a:cs typeface="Arial Bold Italics"/>
                <a:sym typeface="Arial Bold Italics"/>
              </a:rPr>
              <a:t>13</a:t>
            </a:r>
            <a:r>
              <a:rPr lang="en-US" sz="1920" i="true">
                <a:solidFill>
                  <a:srgbClr val="000000"/>
                </a:solidFill>
                <a:latin typeface="Arial Italics"/>
                <a:ea typeface="Arial Italics"/>
                <a:cs typeface="Arial Italics"/>
                <a:sym typeface="Arial Italics"/>
              </a:rPr>
              <a:t>)</a:t>
            </a:r>
          </a:p>
          <a:p>
            <a:pPr algn="just" marL="734771" indent="-244924" lvl="2">
              <a:lnSpc>
                <a:spcPts val="2304"/>
              </a:lnSpc>
              <a:buFont typeface="Arial"/>
              <a:buChar char="⚬"/>
            </a:pPr>
            <a:r>
              <a:rPr lang="en-US" sz="1920">
                <a:solidFill>
                  <a:srgbClr val="000000"/>
                </a:solidFill>
                <a:latin typeface="Arial"/>
                <a:ea typeface="Arial"/>
                <a:cs typeface="Arial"/>
                <a:sym typeface="Arial"/>
              </a:rPr>
              <a:t>Multimodal AI systems lack robust </a:t>
            </a:r>
            <a:r>
              <a:rPr lang="en-US" b="true" sz="1920">
                <a:solidFill>
                  <a:srgbClr val="000000"/>
                </a:solidFill>
                <a:latin typeface="Arial Bold"/>
                <a:ea typeface="Arial Bold"/>
                <a:cs typeface="Arial Bold"/>
                <a:sym typeface="Arial Bold"/>
              </a:rPr>
              <a:t>privacy-preserving mechanisms</a:t>
            </a:r>
            <a:r>
              <a:rPr lang="en-US" sz="1920">
                <a:solidFill>
                  <a:srgbClr val="000000"/>
                </a:solidFill>
                <a:latin typeface="Arial"/>
                <a:ea typeface="Arial"/>
                <a:cs typeface="Arial"/>
                <a:sym typeface="Arial"/>
              </a:rPr>
              <a:t>, making sensitive user information vulnerable to data leakage.</a:t>
            </a:r>
          </a:p>
          <a:p>
            <a:pPr algn="just" marL="734771" indent="-244924" lvl="2">
              <a:lnSpc>
                <a:spcPts val="2304"/>
              </a:lnSpc>
            </a:pPr>
          </a:p>
          <a:p>
            <a:pPr algn="just">
              <a:lnSpc>
                <a:spcPts val="2304"/>
              </a:lnSpc>
            </a:pPr>
            <a:r>
              <a:rPr lang="en-US" sz="1920" b="true">
                <a:solidFill>
                  <a:srgbClr val="000000"/>
                </a:solidFill>
                <a:latin typeface="Arial Bold"/>
                <a:ea typeface="Arial Bold"/>
                <a:cs typeface="Arial Bold"/>
                <a:sym typeface="Arial Bold"/>
              </a:rPr>
              <a:t>6. </a:t>
            </a:r>
            <a:r>
              <a:rPr lang="en-US" sz="1920" b="true">
                <a:solidFill>
                  <a:srgbClr val="000000"/>
                </a:solidFill>
                <a:latin typeface="Arial Bold"/>
                <a:ea typeface="Arial Bold"/>
                <a:cs typeface="Arial Bold"/>
                <a:sym typeface="Arial Bold"/>
              </a:rPr>
              <a:t>Poor Cross-Disaster Generalization</a:t>
            </a:r>
            <a:r>
              <a:rPr lang="en-US" sz="1920">
                <a:solidFill>
                  <a:srgbClr val="000000"/>
                </a:solidFill>
                <a:latin typeface="Arial"/>
                <a:ea typeface="Arial"/>
                <a:cs typeface="Arial"/>
                <a:sym typeface="Arial"/>
              </a:rPr>
              <a:t> </a:t>
            </a:r>
            <a:r>
              <a:rPr lang="en-US" sz="1920" i="true">
                <a:solidFill>
                  <a:srgbClr val="000000"/>
                </a:solidFill>
                <a:latin typeface="Arial Italics"/>
                <a:ea typeface="Arial Italics"/>
                <a:cs typeface="Arial Italics"/>
                <a:sym typeface="Arial Italics"/>
              </a:rPr>
              <a:t>(Refs. </a:t>
            </a:r>
            <a:r>
              <a:rPr lang="en-US" b="true" sz="1920" i="true">
                <a:solidFill>
                  <a:srgbClr val="000000"/>
                </a:solidFill>
                <a:latin typeface="Arial Bold Italics"/>
                <a:ea typeface="Arial Bold Italics"/>
                <a:cs typeface="Arial Bold Italics"/>
                <a:sym typeface="Arial Bold Italics"/>
              </a:rPr>
              <a:t>1, 7, 15</a:t>
            </a:r>
            <a:r>
              <a:rPr lang="en-US" sz="1920" i="true">
                <a:solidFill>
                  <a:srgbClr val="000000"/>
                </a:solidFill>
                <a:latin typeface="Arial Italics"/>
                <a:ea typeface="Arial Italics"/>
                <a:cs typeface="Arial Italics"/>
                <a:sym typeface="Arial Italics"/>
              </a:rPr>
              <a:t>)</a:t>
            </a:r>
          </a:p>
          <a:p>
            <a:pPr algn="just" marL="734771" indent="-244924" lvl="2">
              <a:lnSpc>
                <a:spcPts val="2304"/>
              </a:lnSpc>
              <a:buFont typeface="Arial"/>
              <a:buChar char="⚬"/>
            </a:pPr>
            <a:r>
              <a:rPr lang="en-US" sz="1920">
                <a:solidFill>
                  <a:srgbClr val="000000"/>
                </a:solidFill>
                <a:latin typeface="Arial"/>
                <a:ea typeface="Arial"/>
                <a:cs typeface="Arial"/>
                <a:sym typeface="Arial"/>
              </a:rPr>
              <a:t>Many models are trained on specific disaster datasets and perform poorly when applied to different emergency scenarios such as floods, earthquakes, fires, and road accidents.</a:t>
            </a:r>
          </a:p>
          <a:p>
            <a:pPr algn="just" marL="734771" indent="-244924" lvl="2">
              <a:lnSpc>
                <a:spcPts val="2304"/>
              </a:lnSpc>
            </a:pPr>
          </a:p>
          <a:p>
            <a:pPr algn="just">
              <a:lnSpc>
                <a:spcPts val="2304"/>
              </a:lnSpc>
            </a:pPr>
            <a:r>
              <a:rPr lang="en-US" sz="1920" b="true">
                <a:solidFill>
                  <a:srgbClr val="000000"/>
                </a:solidFill>
                <a:latin typeface="Arial Bold"/>
                <a:ea typeface="Arial Bold"/>
                <a:cs typeface="Arial Bold"/>
                <a:sym typeface="Arial Bold"/>
              </a:rPr>
              <a:t>7. </a:t>
            </a:r>
            <a:r>
              <a:rPr lang="en-US" sz="1920" b="true">
                <a:solidFill>
                  <a:srgbClr val="000000"/>
                </a:solidFill>
                <a:latin typeface="Arial Bold"/>
                <a:ea typeface="Arial Bold"/>
                <a:cs typeface="Arial Bold"/>
                <a:sym typeface="Arial Bold"/>
              </a:rPr>
              <a:t>Absence of a Unified End-to-End Emergency Framework</a:t>
            </a:r>
            <a:r>
              <a:rPr lang="en-US" sz="1920">
                <a:solidFill>
                  <a:srgbClr val="000000"/>
                </a:solidFill>
                <a:latin typeface="Arial"/>
                <a:ea typeface="Arial"/>
                <a:cs typeface="Arial"/>
                <a:sym typeface="Arial"/>
              </a:rPr>
              <a:t> </a:t>
            </a:r>
            <a:r>
              <a:rPr lang="en-US" sz="1920" i="true">
                <a:solidFill>
                  <a:srgbClr val="000000"/>
                </a:solidFill>
                <a:latin typeface="Arial Italics"/>
                <a:ea typeface="Arial Italics"/>
                <a:cs typeface="Arial Italics"/>
                <a:sym typeface="Arial Italics"/>
              </a:rPr>
              <a:t>(Refs. </a:t>
            </a:r>
            <a:r>
              <a:rPr lang="en-US" b="true" sz="1920" i="true">
                <a:solidFill>
                  <a:srgbClr val="000000"/>
                </a:solidFill>
                <a:latin typeface="Arial Bold Italics"/>
                <a:ea typeface="Arial Bold Italics"/>
                <a:cs typeface="Arial Bold Italics"/>
                <a:sym typeface="Arial Bold Italics"/>
              </a:rPr>
              <a:t>1–15</a:t>
            </a:r>
            <a:r>
              <a:rPr lang="en-US" sz="1920" i="true">
                <a:solidFill>
                  <a:srgbClr val="000000"/>
                </a:solidFill>
                <a:latin typeface="Arial Italics"/>
                <a:ea typeface="Arial Italics"/>
                <a:cs typeface="Arial Italics"/>
                <a:sym typeface="Arial Italics"/>
              </a:rPr>
              <a:t>)</a:t>
            </a:r>
          </a:p>
          <a:p>
            <a:pPr algn="just" marL="734771" indent="-244924" lvl="2">
              <a:lnSpc>
                <a:spcPts val="2304"/>
              </a:lnSpc>
              <a:buFont typeface="Arial"/>
              <a:buChar char="⚬"/>
            </a:pPr>
            <a:r>
              <a:rPr lang="en-US" sz="1920">
                <a:solidFill>
                  <a:srgbClr val="000000"/>
                </a:solidFill>
                <a:latin typeface="Arial"/>
                <a:ea typeface="Arial"/>
                <a:cs typeface="Arial"/>
                <a:sym typeface="Arial"/>
              </a:rPr>
              <a:t>Existing research focuses on individual components such as computer vision, GIS, or decision support, but </a:t>
            </a:r>
            <a:r>
              <a:rPr lang="en-US" b="true" sz="1920">
                <a:solidFill>
                  <a:srgbClr val="000000"/>
                </a:solidFill>
                <a:latin typeface="Arial Bold"/>
                <a:ea typeface="Arial Bold"/>
                <a:cs typeface="Arial Bold"/>
                <a:sym typeface="Arial Bold"/>
              </a:rPr>
              <a:t>no single framework integrates multimodal AI, edge computing, automated triage, privacy protection, and emergency dispatch into one comprehensive system</a:t>
            </a:r>
            <a:r>
              <a:rPr lang="en-US" sz="1920">
                <a:solidFill>
                  <a:srgbClr val="000000"/>
                </a:solidFill>
                <a:latin typeface="Arial"/>
                <a:ea typeface="Arial"/>
                <a:cs typeface="Arial"/>
                <a:sym typeface="Arial"/>
              </a:rPr>
              <a:t>.</a:t>
            </a:r>
          </a:p>
          <a:p>
            <a:pPr algn="just" marL="734771" indent="-244924" lvl="2">
              <a:lnSpc>
                <a:spcPts val="3916"/>
              </a:lnSpc>
            </a:pPr>
          </a:p>
        </p:txBody>
      </p:sp>
      <p:grpSp>
        <p:nvGrpSpPr>
          <p:cNvPr name="Group 6" id="6"/>
          <p:cNvGrpSpPr/>
          <p:nvPr/>
        </p:nvGrpSpPr>
        <p:grpSpPr>
          <a:xfrm rot="0">
            <a:off x="8859650" y="-8449"/>
            <a:ext cx="873604" cy="739969"/>
            <a:chOff x="0" y="0"/>
            <a:chExt cx="1164806" cy="986625"/>
          </a:xfrm>
        </p:grpSpPr>
        <p:sp>
          <p:nvSpPr>
            <p:cNvPr name="Freeform 7" id="7"/>
            <p:cNvSpPr/>
            <p:nvPr/>
          </p:nvSpPr>
          <p:spPr>
            <a:xfrm flipH="false" flipV="false" rot="0">
              <a:off x="0" y="0"/>
              <a:ext cx="1164844" cy="986663"/>
            </a:xfrm>
            <a:custGeom>
              <a:avLst/>
              <a:gdLst/>
              <a:ahLst/>
              <a:cxnLst/>
              <a:rect r="r" b="b" t="t" l="l"/>
              <a:pathLst>
                <a:path h="986663" w="1164844">
                  <a:moveTo>
                    <a:pt x="0" y="0"/>
                  </a:moveTo>
                  <a:lnTo>
                    <a:pt x="1164844" y="0"/>
                  </a:lnTo>
                  <a:lnTo>
                    <a:pt x="1164844" y="986663"/>
                  </a:lnTo>
                  <a:lnTo>
                    <a:pt x="0" y="986663"/>
                  </a:lnTo>
                  <a:lnTo>
                    <a:pt x="0" y="0"/>
                  </a:lnTo>
                  <a:close/>
                </a:path>
              </a:pathLst>
            </a:custGeom>
            <a:blipFill>
              <a:blip r:embed="rId3"/>
              <a:stretch>
                <a:fillRect l="0" t="-39" r="3" b="-37"/>
              </a:stretch>
            </a:blipFill>
          </p:spPr>
        </p:sp>
      </p:grpSp>
    </p:spTree>
  </p:cSld>
  <p:clrMapOvr>
    <a:masterClrMapping/>
  </p:clrMapOvr>
  <p:transition spd="fast">
    <p:fade/>
  </p:transition>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87680" y="292608"/>
            <a:ext cx="8778240" cy="1219200"/>
            <a:chOff x="0" y="0"/>
            <a:chExt cx="11704320" cy="1625600"/>
          </a:xfrm>
        </p:grpSpPr>
        <p:sp>
          <p:nvSpPr>
            <p:cNvPr name="Freeform 3" id="3"/>
            <p:cNvSpPr/>
            <p:nvPr/>
          </p:nvSpPr>
          <p:spPr>
            <a:xfrm flipH="false" flipV="false" rot="0">
              <a:off x="0" y="0"/>
              <a:ext cx="11704320" cy="1625600"/>
            </a:xfrm>
            <a:custGeom>
              <a:avLst/>
              <a:gdLst/>
              <a:ahLst/>
              <a:cxnLst/>
              <a:rect r="r" b="b" t="t" l="l"/>
              <a:pathLst>
                <a:path h="1625600" w="11704320">
                  <a:moveTo>
                    <a:pt x="0" y="0"/>
                  </a:moveTo>
                  <a:lnTo>
                    <a:pt x="11704320" y="0"/>
                  </a:lnTo>
                  <a:lnTo>
                    <a:pt x="11704320" y="1625600"/>
                  </a:lnTo>
                  <a:lnTo>
                    <a:pt x="0" y="1625600"/>
                  </a:lnTo>
                  <a:close/>
                </a:path>
              </a:pathLst>
            </a:custGeom>
            <a:blipFill>
              <a:blip r:embed="rId2">
                <a:alphaModFix amt="0"/>
              </a:blip>
              <a:stretch>
                <a:fillRect l="0" t="-90292" r="0" b="-90292"/>
              </a:stretch>
            </a:blipFill>
          </p:spPr>
        </p:sp>
        <p:sp>
          <p:nvSpPr>
            <p:cNvPr name="TextBox 4" id="4"/>
            <p:cNvSpPr txBox="true"/>
            <p:nvPr/>
          </p:nvSpPr>
          <p:spPr>
            <a:xfrm>
              <a:off x="0" y="-28575"/>
              <a:ext cx="11704320" cy="1654175"/>
            </a:xfrm>
            <a:prstGeom prst="rect">
              <a:avLst/>
            </a:prstGeom>
          </p:spPr>
          <p:txBody>
            <a:bodyPr anchor="ctr" rtlCol="false" tIns="0" lIns="0" bIns="0" rIns="0"/>
            <a:lstStyle/>
            <a:p>
              <a:pPr algn="ctr">
                <a:lnSpc>
                  <a:spcPts val="5631"/>
                </a:lnSpc>
              </a:pPr>
              <a:r>
                <a:rPr lang="en-US" sz="4693" b="true">
                  <a:solidFill>
                    <a:srgbClr val="FF0000"/>
                  </a:solidFill>
                  <a:latin typeface="Times New Roman Bold"/>
                  <a:ea typeface="Times New Roman Bold"/>
                  <a:cs typeface="Times New Roman Bold"/>
                  <a:sym typeface="Times New Roman Bold"/>
                </a:rPr>
                <a:t>4 Block Diagram</a:t>
              </a:r>
            </a:p>
          </p:txBody>
        </p:sp>
      </p:grpSp>
      <p:sp>
        <p:nvSpPr>
          <p:cNvPr name="TextBox 5" id="5"/>
          <p:cNvSpPr txBox="true"/>
          <p:nvPr/>
        </p:nvSpPr>
        <p:spPr>
          <a:xfrm rot="0">
            <a:off x="2323704" y="6564630"/>
            <a:ext cx="5509727" cy="318278"/>
          </a:xfrm>
          <a:prstGeom prst="rect">
            <a:avLst/>
          </a:prstGeom>
        </p:spPr>
        <p:txBody>
          <a:bodyPr anchor="t" rtlCol="false" tIns="0" lIns="0" bIns="0" rIns="0">
            <a:spAutoFit/>
          </a:bodyPr>
          <a:lstStyle/>
          <a:p>
            <a:pPr algn="l">
              <a:lnSpc>
                <a:spcPts val="2304"/>
              </a:lnSpc>
            </a:pPr>
            <a:r>
              <a:rPr lang="en-US" sz="1920" b="true">
                <a:solidFill>
                  <a:srgbClr val="0070C0"/>
                </a:solidFill>
                <a:latin typeface="Times New Roman Bold"/>
                <a:ea typeface="Times New Roman Bold"/>
                <a:cs typeface="Times New Roman Bold"/>
                <a:sym typeface="Times New Roman Bold"/>
              </a:rPr>
              <a:t>Fig 19:  Structural design of the research Work 3</a:t>
            </a:r>
          </a:p>
        </p:txBody>
      </p:sp>
      <p:grpSp>
        <p:nvGrpSpPr>
          <p:cNvPr name="Group 6" id="6"/>
          <p:cNvGrpSpPr/>
          <p:nvPr/>
        </p:nvGrpSpPr>
        <p:grpSpPr>
          <a:xfrm rot="0">
            <a:off x="8859650" y="-8449"/>
            <a:ext cx="873604" cy="739969"/>
            <a:chOff x="0" y="0"/>
            <a:chExt cx="1164806" cy="986625"/>
          </a:xfrm>
        </p:grpSpPr>
        <p:sp>
          <p:nvSpPr>
            <p:cNvPr name="Freeform 7" id="7"/>
            <p:cNvSpPr/>
            <p:nvPr/>
          </p:nvSpPr>
          <p:spPr>
            <a:xfrm flipH="false" flipV="false" rot="0">
              <a:off x="0" y="0"/>
              <a:ext cx="1164844" cy="986663"/>
            </a:xfrm>
            <a:custGeom>
              <a:avLst/>
              <a:gdLst/>
              <a:ahLst/>
              <a:cxnLst/>
              <a:rect r="r" b="b" t="t" l="l"/>
              <a:pathLst>
                <a:path h="986663" w="1164844">
                  <a:moveTo>
                    <a:pt x="0" y="0"/>
                  </a:moveTo>
                  <a:lnTo>
                    <a:pt x="1164844" y="0"/>
                  </a:lnTo>
                  <a:lnTo>
                    <a:pt x="1164844" y="986663"/>
                  </a:lnTo>
                  <a:lnTo>
                    <a:pt x="0" y="986663"/>
                  </a:lnTo>
                  <a:lnTo>
                    <a:pt x="0" y="0"/>
                  </a:lnTo>
                  <a:close/>
                </a:path>
              </a:pathLst>
            </a:custGeom>
            <a:blipFill>
              <a:blip r:embed="rId3"/>
              <a:stretch>
                <a:fillRect l="0" t="-39" r="3" b="-37"/>
              </a:stretch>
            </a:blipFill>
          </p:spPr>
        </p:sp>
      </p:grpSp>
      <p:grpSp>
        <p:nvGrpSpPr>
          <p:cNvPr name="Group 8" id="8"/>
          <p:cNvGrpSpPr/>
          <p:nvPr/>
        </p:nvGrpSpPr>
        <p:grpSpPr>
          <a:xfrm rot="0">
            <a:off x="203140" y="1381630"/>
            <a:ext cx="9347330" cy="4920958"/>
            <a:chOff x="0" y="0"/>
            <a:chExt cx="12463107" cy="6561277"/>
          </a:xfrm>
        </p:grpSpPr>
        <p:sp>
          <p:nvSpPr>
            <p:cNvPr name="Freeform 9" id="9" descr="A diagram of a multimodal emergency  AI-generated content may be incorrect."/>
            <p:cNvSpPr/>
            <p:nvPr/>
          </p:nvSpPr>
          <p:spPr>
            <a:xfrm flipH="false" flipV="false" rot="0">
              <a:off x="0" y="0"/>
              <a:ext cx="12463145" cy="6561328"/>
            </a:xfrm>
            <a:custGeom>
              <a:avLst/>
              <a:gdLst/>
              <a:ahLst/>
              <a:cxnLst/>
              <a:rect r="r" b="b" t="t" l="l"/>
              <a:pathLst>
                <a:path h="6561328" w="12463145">
                  <a:moveTo>
                    <a:pt x="0" y="0"/>
                  </a:moveTo>
                  <a:lnTo>
                    <a:pt x="12463145" y="0"/>
                  </a:lnTo>
                  <a:lnTo>
                    <a:pt x="12463145" y="6561328"/>
                  </a:lnTo>
                  <a:lnTo>
                    <a:pt x="0" y="6561328"/>
                  </a:lnTo>
                  <a:lnTo>
                    <a:pt x="0" y="0"/>
                  </a:lnTo>
                  <a:close/>
                </a:path>
              </a:pathLst>
            </a:custGeom>
            <a:blipFill>
              <a:blip r:embed="rId4"/>
              <a:stretch>
                <a:fillRect l="0" t="-1761" r="0" b="-1760"/>
              </a:stretch>
            </a:blipFill>
          </p:spPr>
        </p:sp>
      </p:grpSp>
    </p:spTree>
  </p:cSld>
  <p:clrMapOvr>
    <a:masterClrMapping/>
  </p:clrMapOvr>
  <p:transition spd="fast">
    <p:fade/>
  </p:transition>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837392" y="197510"/>
            <a:ext cx="6241247" cy="620411"/>
          </a:xfrm>
          <a:prstGeom prst="rect">
            <a:avLst/>
          </a:prstGeom>
        </p:spPr>
        <p:txBody>
          <a:bodyPr anchor="t" rtlCol="false" tIns="0" lIns="0" bIns="0" rIns="0">
            <a:spAutoFit/>
          </a:bodyPr>
          <a:lstStyle/>
          <a:p>
            <a:pPr algn="ctr">
              <a:lnSpc>
                <a:spcPts val="4608"/>
              </a:lnSpc>
            </a:pPr>
            <a:r>
              <a:rPr lang="en-US" sz="3840" b="true">
                <a:solidFill>
                  <a:srgbClr val="FF0000"/>
                </a:solidFill>
                <a:latin typeface="Times New Roman Bold"/>
                <a:ea typeface="Times New Roman Bold"/>
                <a:cs typeface="Times New Roman Bold"/>
                <a:sym typeface="Times New Roman Bold"/>
              </a:rPr>
              <a:t>4.1. Methodology</a:t>
            </a:r>
          </a:p>
        </p:txBody>
      </p:sp>
      <p:sp>
        <p:nvSpPr>
          <p:cNvPr name="TextBox 3" id="3"/>
          <p:cNvSpPr txBox="true"/>
          <p:nvPr/>
        </p:nvSpPr>
        <p:spPr>
          <a:xfrm rot="0">
            <a:off x="2690832" y="6484325"/>
            <a:ext cx="4534367" cy="318278"/>
          </a:xfrm>
          <a:prstGeom prst="rect">
            <a:avLst/>
          </a:prstGeom>
        </p:spPr>
        <p:txBody>
          <a:bodyPr anchor="t" rtlCol="false" tIns="0" lIns="0" bIns="0" rIns="0">
            <a:spAutoFit/>
          </a:bodyPr>
          <a:lstStyle/>
          <a:p>
            <a:pPr algn="l">
              <a:lnSpc>
                <a:spcPts val="2304"/>
              </a:lnSpc>
            </a:pPr>
            <a:r>
              <a:rPr lang="en-US" sz="1920" b="true">
                <a:solidFill>
                  <a:srgbClr val="0070C0"/>
                </a:solidFill>
                <a:latin typeface="Times New Roman Bold"/>
                <a:ea typeface="Times New Roman Bold"/>
                <a:cs typeface="Times New Roman Bold"/>
                <a:sym typeface="Times New Roman Bold"/>
              </a:rPr>
              <a:t>Fig 6: Block Diagram of Research Work 2</a:t>
            </a:r>
          </a:p>
        </p:txBody>
      </p:sp>
      <p:grpSp>
        <p:nvGrpSpPr>
          <p:cNvPr name="Group 4" id="4"/>
          <p:cNvGrpSpPr/>
          <p:nvPr/>
        </p:nvGrpSpPr>
        <p:grpSpPr>
          <a:xfrm rot="0">
            <a:off x="8859650" y="-8449"/>
            <a:ext cx="873604" cy="739969"/>
            <a:chOff x="0" y="0"/>
            <a:chExt cx="1164806" cy="986625"/>
          </a:xfrm>
        </p:grpSpPr>
        <p:sp>
          <p:nvSpPr>
            <p:cNvPr name="Freeform 5" id="5"/>
            <p:cNvSpPr/>
            <p:nvPr/>
          </p:nvSpPr>
          <p:spPr>
            <a:xfrm flipH="false" flipV="false" rot="0">
              <a:off x="0" y="0"/>
              <a:ext cx="1164844" cy="986663"/>
            </a:xfrm>
            <a:custGeom>
              <a:avLst/>
              <a:gdLst/>
              <a:ahLst/>
              <a:cxnLst/>
              <a:rect r="r" b="b" t="t" l="l"/>
              <a:pathLst>
                <a:path h="986663" w="1164844">
                  <a:moveTo>
                    <a:pt x="0" y="0"/>
                  </a:moveTo>
                  <a:lnTo>
                    <a:pt x="1164844" y="0"/>
                  </a:lnTo>
                  <a:lnTo>
                    <a:pt x="1164844" y="986663"/>
                  </a:lnTo>
                  <a:lnTo>
                    <a:pt x="0" y="986663"/>
                  </a:lnTo>
                  <a:lnTo>
                    <a:pt x="0" y="0"/>
                  </a:lnTo>
                  <a:close/>
                </a:path>
              </a:pathLst>
            </a:custGeom>
            <a:blipFill>
              <a:blip r:embed="rId2"/>
              <a:stretch>
                <a:fillRect l="0" t="-39" r="3" b="-37"/>
              </a:stretch>
            </a:blipFill>
          </p:spPr>
        </p:sp>
      </p:grpSp>
      <p:grpSp>
        <p:nvGrpSpPr>
          <p:cNvPr name="Group 6" id="6"/>
          <p:cNvGrpSpPr/>
          <p:nvPr/>
        </p:nvGrpSpPr>
        <p:grpSpPr>
          <a:xfrm rot="0">
            <a:off x="162430" y="817921"/>
            <a:ext cx="9347330" cy="5440509"/>
            <a:chOff x="0" y="0"/>
            <a:chExt cx="12463107" cy="7254011"/>
          </a:xfrm>
        </p:grpSpPr>
        <p:sp>
          <p:nvSpPr>
            <p:cNvPr name="Freeform 7" id="7" descr="A diagram of a process flow  AI-generated content may be incorrect."/>
            <p:cNvSpPr/>
            <p:nvPr/>
          </p:nvSpPr>
          <p:spPr>
            <a:xfrm flipH="false" flipV="false" rot="0">
              <a:off x="0" y="0"/>
              <a:ext cx="12463145" cy="7253986"/>
            </a:xfrm>
            <a:custGeom>
              <a:avLst/>
              <a:gdLst/>
              <a:ahLst/>
              <a:cxnLst/>
              <a:rect r="r" b="b" t="t" l="l"/>
              <a:pathLst>
                <a:path h="7253986" w="12463145">
                  <a:moveTo>
                    <a:pt x="0" y="0"/>
                  </a:moveTo>
                  <a:lnTo>
                    <a:pt x="12463145" y="0"/>
                  </a:lnTo>
                  <a:lnTo>
                    <a:pt x="12463145" y="7253986"/>
                  </a:lnTo>
                  <a:lnTo>
                    <a:pt x="0" y="7253986"/>
                  </a:lnTo>
                  <a:lnTo>
                    <a:pt x="0" y="0"/>
                  </a:lnTo>
                  <a:close/>
                </a:path>
              </a:pathLst>
            </a:custGeom>
            <a:blipFill>
              <a:blip r:embed="rId3"/>
              <a:stretch>
                <a:fillRect l="0" t="-52353" r="0" b="-52353"/>
              </a:stretch>
            </a:blipFill>
          </p:spPr>
        </p:sp>
      </p:grpSp>
    </p:spTree>
  </p:cSld>
  <p:clrMapOvr>
    <a:masterClrMapping/>
  </p:clrMapOvr>
  <p:transition spd="fast">
    <p:fade/>
  </p:transition>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28158" y="361536"/>
            <a:ext cx="8778240" cy="924287"/>
            <a:chOff x="0" y="0"/>
            <a:chExt cx="11704320" cy="1232383"/>
          </a:xfrm>
        </p:grpSpPr>
        <p:sp>
          <p:nvSpPr>
            <p:cNvPr name="Freeform 3" id="3"/>
            <p:cNvSpPr/>
            <p:nvPr/>
          </p:nvSpPr>
          <p:spPr>
            <a:xfrm flipH="false" flipV="false" rot="0">
              <a:off x="0" y="0"/>
              <a:ext cx="11704320" cy="1232384"/>
            </a:xfrm>
            <a:custGeom>
              <a:avLst/>
              <a:gdLst/>
              <a:ahLst/>
              <a:cxnLst/>
              <a:rect r="r" b="b" t="t" l="l"/>
              <a:pathLst>
                <a:path h="1232384" w="11704320">
                  <a:moveTo>
                    <a:pt x="0" y="0"/>
                  </a:moveTo>
                  <a:lnTo>
                    <a:pt x="11704320" y="0"/>
                  </a:lnTo>
                  <a:lnTo>
                    <a:pt x="11704320" y="1232384"/>
                  </a:lnTo>
                  <a:lnTo>
                    <a:pt x="0" y="1232384"/>
                  </a:lnTo>
                  <a:close/>
                </a:path>
              </a:pathLst>
            </a:custGeom>
            <a:blipFill>
              <a:blip r:embed="rId2">
                <a:alphaModFix amt="0"/>
              </a:blip>
              <a:stretch>
                <a:fillRect l="0" t="-135055" r="0" b="-135055"/>
              </a:stretch>
            </a:blipFill>
          </p:spPr>
        </p:sp>
        <p:sp>
          <p:nvSpPr>
            <p:cNvPr name="TextBox 4" id="4"/>
            <p:cNvSpPr txBox="true"/>
            <p:nvPr/>
          </p:nvSpPr>
          <p:spPr>
            <a:xfrm>
              <a:off x="0" y="-28575"/>
              <a:ext cx="11704320" cy="1260958"/>
            </a:xfrm>
            <a:prstGeom prst="rect">
              <a:avLst/>
            </a:prstGeom>
          </p:spPr>
          <p:txBody>
            <a:bodyPr anchor="ctr" rtlCol="false" tIns="0" lIns="0" bIns="0" rIns="0"/>
            <a:lstStyle/>
            <a:p>
              <a:pPr algn="ctr">
                <a:lnSpc>
                  <a:spcPts val="4608"/>
                </a:lnSpc>
              </a:pPr>
              <a:r>
                <a:rPr lang="en-US" sz="3840" b="true">
                  <a:solidFill>
                    <a:srgbClr val="FF0000"/>
                  </a:solidFill>
                  <a:latin typeface="Times New Roman Bold"/>
                  <a:ea typeface="Times New Roman Bold"/>
                  <a:cs typeface="Times New Roman Bold"/>
                  <a:sym typeface="Times New Roman Bold"/>
                </a:rPr>
                <a:t>4.2 Pre-processing</a:t>
              </a:r>
            </a:p>
          </p:txBody>
        </p:sp>
      </p:grpSp>
      <p:grpSp>
        <p:nvGrpSpPr>
          <p:cNvPr name="Group 5" id="5"/>
          <p:cNvGrpSpPr/>
          <p:nvPr/>
        </p:nvGrpSpPr>
        <p:grpSpPr>
          <a:xfrm rot="0">
            <a:off x="8859650" y="-8449"/>
            <a:ext cx="873604" cy="739969"/>
            <a:chOff x="0" y="0"/>
            <a:chExt cx="1164806" cy="986625"/>
          </a:xfrm>
        </p:grpSpPr>
        <p:sp>
          <p:nvSpPr>
            <p:cNvPr name="Freeform 6" id="6"/>
            <p:cNvSpPr/>
            <p:nvPr/>
          </p:nvSpPr>
          <p:spPr>
            <a:xfrm flipH="false" flipV="false" rot="0">
              <a:off x="0" y="0"/>
              <a:ext cx="1164844" cy="986663"/>
            </a:xfrm>
            <a:custGeom>
              <a:avLst/>
              <a:gdLst/>
              <a:ahLst/>
              <a:cxnLst/>
              <a:rect r="r" b="b" t="t" l="l"/>
              <a:pathLst>
                <a:path h="986663" w="1164844">
                  <a:moveTo>
                    <a:pt x="0" y="0"/>
                  </a:moveTo>
                  <a:lnTo>
                    <a:pt x="1164844" y="0"/>
                  </a:lnTo>
                  <a:lnTo>
                    <a:pt x="1164844" y="986663"/>
                  </a:lnTo>
                  <a:lnTo>
                    <a:pt x="0" y="986663"/>
                  </a:lnTo>
                  <a:lnTo>
                    <a:pt x="0" y="0"/>
                  </a:lnTo>
                  <a:close/>
                </a:path>
              </a:pathLst>
            </a:custGeom>
            <a:blipFill>
              <a:blip r:embed="rId3"/>
              <a:stretch>
                <a:fillRect l="0" t="-39" r="3" b="-37"/>
              </a:stretch>
            </a:blipFill>
          </p:spPr>
        </p:sp>
      </p:grpSp>
      <p:grpSp>
        <p:nvGrpSpPr>
          <p:cNvPr name="Group 7" id="7"/>
          <p:cNvGrpSpPr/>
          <p:nvPr/>
        </p:nvGrpSpPr>
        <p:grpSpPr>
          <a:xfrm rot="0">
            <a:off x="428158" y="1645444"/>
            <a:ext cx="8452990" cy="4382595"/>
            <a:chOff x="0" y="0"/>
            <a:chExt cx="11270653" cy="5843460"/>
          </a:xfrm>
        </p:grpSpPr>
        <p:sp>
          <p:nvSpPr>
            <p:cNvPr name="Freeform 8" id="8"/>
            <p:cNvSpPr/>
            <p:nvPr/>
          </p:nvSpPr>
          <p:spPr>
            <a:xfrm flipH="false" flipV="false" rot="0">
              <a:off x="0" y="0"/>
              <a:ext cx="11270656" cy="5843456"/>
            </a:xfrm>
            <a:custGeom>
              <a:avLst/>
              <a:gdLst/>
              <a:ahLst/>
              <a:cxnLst/>
              <a:rect r="r" b="b" t="t" l="l"/>
              <a:pathLst>
                <a:path h="5843456" w="11270656">
                  <a:moveTo>
                    <a:pt x="0" y="0"/>
                  </a:moveTo>
                  <a:lnTo>
                    <a:pt x="11270656" y="0"/>
                  </a:lnTo>
                  <a:lnTo>
                    <a:pt x="11270656" y="5843456"/>
                  </a:lnTo>
                  <a:lnTo>
                    <a:pt x="0" y="5843456"/>
                  </a:lnTo>
                  <a:close/>
                </a:path>
              </a:pathLst>
            </a:custGeom>
            <a:blipFill>
              <a:blip r:embed="rId2">
                <a:alphaModFix amt="0"/>
              </a:blip>
              <a:stretch>
                <a:fillRect l="-16521" t="0" r="-16521" b="0"/>
              </a:stretch>
            </a:blipFill>
          </p:spPr>
        </p:sp>
        <p:sp>
          <p:nvSpPr>
            <p:cNvPr name="TextBox 9" id="9"/>
            <p:cNvSpPr txBox="true"/>
            <p:nvPr/>
          </p:nvSpPr>
          <p:spPr>
            <a:xfrm>
              <a:off x="0" y="-19050"/>
              <a:ext cx="11270653" cy="5862510"/>
            </a:xfrm>
            <a:prstGeom prst="rect">
              <a:avLst/>
            </a:prstGeom>
          </p:spPr>
          <p:txBody>
            <a:bodyPr anchor="ctr" rtlCol="false" tIns="0" lIns="0" bIns="0" rIns="0"/>
            <a:lstStyle/>
            <a:p>
              <a:pPr algn="l">
                <a:lnSpc>
                  <a:spcPts val="2304"/>
                </a:lnSpc>
              </a:pPr>
            </a:p>
            <a:p>
              <a:pPr algn="l" marL="247091" indent="-123546" lvl="1">
                <a:lnSpc>
                  <a:spcPts val="2304"/>
                </a:lnSpc>
                <a:buFont typeface="Arial"/>
                <a:buChar char="•"/>
              </a:pPr>
              <a:r>
                <a:rPr lang="en-US" b="true" sz="1920">
                  <a:solidFill>
                    <a:srgbClr val="000000"/>
                  </a:solidFill>
                  <a:latin typeface="Arial Bold"/>
                  <a:ea typeface="Arial Bold"/>
                  <a:cs typeface="Arial Bold"/>
                  <a:sym typeface="Arial Bold"/>
                </a:rPr>
                <a:t>Image</a:t>
              </a:r>
              <a:r>
                <a:rPr lang="en-US" sz="1920">
                  <a:solidFill>
                    <a:srgbClr val="000000"/>
                  </a:solidFill>
                  <a:latin typeface="Arial"/>
                  <a:ea typeface="Arial"/>
                  <a:cs typeface="Arial"/>
                  <a:sym typeface="Arial"/>
                </a:rPr>
                <a:t> Resize, normalize, denoise, and augment images.</a:t>
              </a:r>
            </a:p>
            <a:p>
              <a:pPr algn="l" marL="247091" indent="-123546" lvl="1">
                <a:lnSpc>
                  <a:spcPts val="2304"/>
                </a:lnSpc>
              </a:pPr>
            </a:p>
            <a:p>
              <a:pPr algn="l" marL="247091" indent="-123546" lvl="1">
                <a:lnSpc>
                  <a:spcPts val="2304"/>
                </a:lnSpc>
                <a:buFont typeface="Arial"/>
                <a:buChar char="•"/>
              </a:pPr>
              <a:r>
                <a:rPr lang="en-US" b="true" sz="1920">
                  <a:solidFill>
                    <a:srgbClr val="000000"/>
                  </a:solidFill>
                  <a:latin typeface="Arial Bold"/>
                  <a:ea typeface="Arial Bold"/>
                  <a:cs typeface="Arial Bold"/>
                  <a:sym typeface="Arial Bold"/>
                </a:rPr>
                <a:t>Audio:</a:t>
              </a:r>
              <a:r>
                <a:rPr lang="en-US" sz="1920">
                  <a:solidFill>
                    <a:srgbClr val="000000"/>
                  </a:solidFill>
                  <a:latin typeface="Arial"/>
                  <a:ea typeface="Arial"/>
                  <a:cs typeface="Arial"/>
                  <a:sym typeface="Arial"/>
                </a:rPr>
                <a:t> Noise reduction, speech-to-text conversion, and feature extraction.</a:t>
              </a:r>
            </a:p>
            <a:p>
              <a:pPr algn="l" marL="247091" indent="-123546" lvl="1">
                <a:lnSpc>
                  <a:spcPts val="2304"/>
                </a:lnSpc>
              </a:pPr>
            </a:p>
            <a:p>
              <a:pPr algn="l" marL="247091" indent="-123546" lvl="1">
                <a:lnSpc>
                  <a:spcPts val="2304"/>
                </a:lnSpc>
                <a:buFont typeface="Arial"/>
                <a:buChar char="•"/>
              </a:pPr>
              <a:r>
                <a:rPr lang="en-US" b="true" sz="1920">
                  <a:solidFill>
                    <a:srgbClr val="000000"/>
                  </a:solidFill>
                  <a:latin typeface="Arial Bold"/>
                  <a:ea typeface="Arial Bold"/>
                  <a:cs typeface="Arial Bold"/>
                  <a:sym typeface="Arial Bold"/>
                </a:rPr>
                <a:t>GPS:</a:t>
              </a:r>
              <a:r>
                <a:rPr lang="en-US" sz="1920">
                  <a:solidFill>
                    <a:srgbClr val="000000"/>
                  </a:solidFill>
                  <a:latin typeface="Arial"/>
                  <a:ea typeface="Arial"/>
                  <a:cs typeface="Arial"/>
                  <a:sym typeface="Arial"/>
                </a:rPr>
                <a:t> Validate coordinates and map nearby emergency facilities.</a:t>
              </a:r>
            </a:p>
            <a:p>
              <a:pPr algn="l" marL="247091" indent="-123546" lvl="1">
                <a:lnSpc>
                  <a:spcPts val="2304"/>
                </a:lnSpc>
              </a:pPr>
            </a:p>
            <a:p>
              <a:pPr algn="l" marL="247091" indent="-123546" lvl="1">
                <a:lnSpc>
                  <a:spcPts val="2304"/>
                </a:lnSpc>
                <a:buFont typeface="Arial"/>
                <a:buChar char="•"/>
              </a:pPr>
              <a:r>
                <a:rPr lang="en-US" b="true" sz="1920">
                  <a:solidFill>
                    <a:srgbClr val="000000"/>
                  </a:solidFill>
                  <a:latin typeface="Arial Bold"/>
                  <a:ea typeface="Arial Bold"/>
                  <a:cs typeface="Arial Bold"/>
                  <a:sym typeface="Arial Bold"/>
                </a:rPr>
                <a:t>Weather:</a:t>
              </a:r>
              <a:r>
                <a:rPr lang="en-US" sz="1920">
                  <a:solidFill>
                    <a:srgbClr val="000000"/>
                  </a:solidFill>
                  <a:latin typeface="Arial"/>
                  <a:ea typeface="Arial"/>
                  <a:cs typeface="Arial"/>
                  <a:sym typeface="Arial"/>
                </a:rPr>
                <a:t> Retrieve, clean, and normalize environmental data.</a:t>
              </a:r>
            </a:p>
            <a:p>
              <a:pPr algn="l" marL="247091" indent="-123546" lvl="1">
                <a:lnSpc>
                  <a:spcPts val="2304"/>
                </a:lnSpc>
              </a:pPr>
            </a:p>
            <a:p>
              <a:pPr algn="l" marL="247091" indent="-123546" lvl="1">
                <a:lnSpc>
                  <a:spcPts val="2304"/>
                </a:lnSpc>
                <a:buFont typeface="Arial"/>
                <a:buChar char="•"/>
              </a:pPr>
              <a:r>
                <a:rPr lang="en-US" b="true" sz="1920">
                  <a:solidFill>
                    <a:srgbClr val="000000"/>
                  </a:solidFill>
                  <a:latin typeface="Arial Bold"/>
                  <a:ea typeface="Arial Bold"/>
                  <a:cs typeface="Arial Bold"/>
                  <a:sym typeface="Arial Bold"/>
                </a:rPr>
                <a:t>Social-Temporal:</a:t>
              </a:r>
              <a:r>
                <a:rPr lang="en-US" sz="1920">
                  <a:solidFill>
                    <a:srgbClr val="000000"/>
                  </a:solidFill>
                  <a:latin typeface="Arial"/>
                  <a:ea typeface="Arial"/>
                  <a:cs typeface="Arial"/>
                  <a:sym typeface="Arial"/>
                </a:rPr>
                <a:t> Clean text, extract keywords, and synchronize timestamps.</a:t>
              </a:r>
            </a:p>
            <a:p>
              <a:pPr algn="l" marL="247091" indent="-123546" lvl="1">
                <a:lnSpc>
                  <a:spcPts val="2304"/>
                </a:lnSpc>
              </a:pPr>
            </a:p>
            <a:p>
              <a:pPr algn="l" marL="247091" indent="-123546" lvl="1">
                <a:lnSpc>
                  <a:spcPts val="2304"/>
                </a:lnSpc>
                <a:buFont typeface="Arial"/>
                <a:buChar char="•"/>
              </a:pPr>
              <a:r>
                <a:rPr lang="en-US" b="true" sz="1920">
                  <a:solidFill>
                    <a:srgbClr val="000000"/>
                  </a:solidFill>
                  <a:latin typeface="Arial Bold"/>
                  <a:ea typeface="Arial Bold"/>
                  <a:cs typeface="Arial Bold"/>
                  <a:sym typeface="Arial Bold"/>
                </a:rPr>
                <a:t>Data Fusion:</a:t>
              </a:r>
              <a:r>
                <a:rPr lang="en-US" sz="1920">
                  <a:solidFill>
                    <a:srgbClr val="000000"/>
                  </a:solidFill>
                  <a:latin typeface="Arial"/>
                  <a:ea typeface="Arial"/>
                  <a:cs typeface="Arial"/>
                  <a:sym typeface="Arial"/>
                </a:rPr>
                <a:t> Normalize and synchronize all modalities into a unified input for the deep learning model.</a:t>
              </a:r>
            </a:p>
            <a:p>
              <a:pPr algn="l" marL="247091" indent="-123546" lvl="1">
                <a:lnSpc>
                  <a:spcPts val="2304"/>
                </a:lnSpc>
              </a:pPr>
            </a:p>
          </p:txBody>
        </p:sp>
      </p:grpSp>
    </p:spTree>
  </p:cSld>
  <p:clrMapOvr>
    <a:masterClrMapping/>
  </p:clrMapOvr>
  <p:transition spd="fast">
    <p:fade/>
  </p:transition>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31520" y="419386"/>
            <a:ext cx="8778240" cy="1432646"/>
            <a:chOff x="0" y="0"/>
            <a:chExt cx="11704320" cy="1910194"/>
          </a:xfrm>
        </p:grpSpPr>
        <p:sp>
          <p:nvSpPr>
            <p:cNvPr name="Freeform 3" id="3"/>
            <p:cNvSpPr/>
            <p:nvPr/>
          </p:nvSpPr>
          <p:spPr>
            <a:xfrm flipH="false" flipV="false" rot="0">
              <a:off x="0" y="0"/>
              <a:ext cx="11704320" cy="1910200"/>
            </a:xfrm>
            <a:custGeom>
              <a:avLst/>
              <a:gdLst/>
              <a:ahLst/>
              <a:cxnLst/>
              <a:rect r="r" b="b" t="t" l="l"/>
              <a:pathLst>
                <a:path h="1910200" w="11704320">
                  <a:moveTo>
                    <a:pt x="0" y="0"/>
                  </a:moveTo>
                  <a:lnTo>
                    <a:pt x="11704320" y="0"/>
                  </a:lnTo>
                  <a:lnTo>
                    <a:pt x="11704320" y="1910200"/>
                  </a:lnTo>
                  <a:lnTo>
                    <a:pt x="0" y="1910200"/>
                  </a:lnTo>
                  <a:close/>
                </a:path>
              </a:pathLst>
            </a:custGeom>
            <a:blipFill>
              <a:blip r:embed="rId2">
                <a:alphaModFix amt="0"/>
              </a:blip>
              <a:stretch>
                <a:fillRect l="0" t="-92734" r="0" b="-46046"/>
              </a:stretch>
            </a:blipFill>
          </p:spPr>
        </p:sp>
        <p:sp>
          <p:nvSpPr>
            <p:cNvPr name="TextBox 4" id="4"/>
            <p:cNvSpPr txBox="true"/>
            <p:nvPr/>
          </p:nvSpPr>
          <p:spPr>
            <a:xfrm>
              <a:off x="0" y="-85725"/>
              <a:ext cx="11704320" cy="1995919"/>
            </a:xfrm>
            <a:prstGeom prst="rect">
              <a:avLst/>
            </a:prstGeom>
          </p:spPr>
          <p:txBody>
            <a:bodyPr anchor="ctr" rtlCol="false" tIns="0" lIns="0" bIns="0" rIns="0"/>
            <a:lstStyle/>
            <a:p>
              <a:pPr algn="ctr">
                <a:lnSpc>
                  <a:spcPts val="5299"/>
                </a:lnSpc>
              </a:pPr>
              <a:r>
                <a:rPr lang="en-US" sz="3840" b="true">
                  <a:solidFill>
                    <a:srgbClr val="FF0000"/>
                  </a:solidFill>
                  <a:latin typeface="Times New Roman Bold"/>
                  <a:ea typeface="Times New Roman Bold"/>
                  <a:cs typeface="Times New Roman Bold"/>
                  <a:sym typeface="Times New Roman Bold"/>
                </a:rPr>
                <a:t>4.3 Feature Extraction</a:t>
              </a:r>
            </a:p>
            <a:p>
              <a:pPr algn="ctr">
                <a:lnSpc>
                  <a:spcPts val="5299"/>
                </a:lnSpc>
              </a:pPr>
            </a:p>
          </p:txBody>
        </p:sp>
      </p:grpSp>
      <p:grpSp>
        <p:nvGrpSpPr>
          <p:cNvPr name="Group 5" id="5"/>
          <p:cNvGrpSpPr/>
          <p:nvPr/>
        </p:nvGrpSpPr>
        <p:grpSpPr>
          <a:xfrm rot="0">
            <a:off x="8859650" y="-8449"/>
            <a:ext cx="873604" cy="739969"/>
            <a:chOff x="0" y="0"/>
            <a:chExt cx="1164806" cy="986625"/>
          </a:xfrm>
        </p:grpSpPr>
        <p:sp>
          <p:nvSpPr>
            <p:cNvPr name="Freeform 6" id="6"/>
            <p:cNvSpPr/>
            <p:nvPr/>
          </p:nvSpPr>
          <p:spPr>
            <a:xfrm flipH="false" flipV="false" rot="0">
              <a:off x="0" y="0"/>
              <a:ext cx="1164844" cy="986663"/>
            </a:xfrm>
            <a:custGeom>
              <a:avLst/>
              <a:gdLst/>
              <a:ahLst/>
              <a:cxnLst/>
              <a:rect r="r" b="b" t="t" l="l"/>
              <a:pathLst>
                <a:path h="986663" w="1164844">
                  <a:moveTo>
                    <a:pt x="0" y="0"/>
                  </a:moveTo>
                  <a:lnTo>
                    <a:pt x="1164844" y="0"/>
                  </a:lnTo>
                  <a:lnTo>
                    <a:pt x="1164844" y="986663"/>
                  </a:lnTo>
                  <a:lnTo>
                    <a:pt x="0" y="986663"/>
                  </a:lnTo>
                  <a:lnTo>
                    <a:pt x="0" y="0"/>
                  </a:lnTo>
                  <a:close/>
                </a:path>
              </a:pathLst>
            </a:custGeom>
            <a:blipFill>
              <a:blip r:embed="rId3"/>
              <a:stretch>
                <a:fillRect l="0" t="-39" r="3" b="-37"/>
              </a:stretch>
            </a:blipFill>
          </p:spPr>
        </p:sp>
      </p:grpSp>
      <p:grpSp>
        <p:nvGrpSpPr>
          <p:cNvPr name="Group 7" id="7"/>
          <p:cNvGrpSpPr/>
          <p:nvPr/>
        </p:nvGrpSpPr>
        <p:grpSpPr>
          <a:xfrm rot="0">
            <a:off x="843263" y="1291776"/>
            <a:ext cx="8554755" cy="4731649"/>
            <a:chOff x="0" y="0"/>
            <a:chExt cx="11406340" cy="6308865"/>
          </a:xfrm>
        </p:grpSpPr>
        <p:sp>
          <p:nvSpPr>
            <p:cNvPr name="Freeform 8" id="8"/>
            <p:cNvSpPr/>
            <p:nvPr/>
          </p:nvSpPr>
          <p:spPr>
            <a:xfrm flipH="false" flipV="false" rot="0">
              <a:off x="0" y="0"/>
              <a:ext cx="11406336" cy="6308864"/>
            </a:xfrm>
            <a:custGeom>
              <a:avLst/>
              <a:gdLst/>
              <a:ahLst/>
              <a:cxnLst/>
              <a:rect r="r" b="b" t="t" l="l"/>
              <a:pathLst>
                <a:path h="6308864" w="11406336">
                  <a:moveTo>
                    <a:pt x="0" y="0"/>
                  </a:moveTo>
                  <a:lnTo>
                    <a:pt x="11406336" y="0"/>
                  </a:lnTo>
                  <a:lnTo>
                    <a:pt x="11406336" y="6308864"/>
                  </a:lnTo>
                  <a:lnTo>
                    <a:pt x="0" y="6308864"/>
                  </a:lnTo>
                  <a:close/>
                </a:path>
              </a:pathLst>
            </a:custGeom>
            <a:blipFill>
              <a:blip r:embed="rId2">
                <a:alphaModFix amt="0"/>
              </a:blip>
              <a:stretch>
                <a:fillRect l="-20964" t="0" r="-20964" b="0"/>
              </a:stretch>
            </a:blipFill>
          </p:spPr>
        </p:sp>
        <p:sp>
          <p:nvSpPr>
            <p:cNvPr name="TextBox 9" id="9"/>
            <p:cNvSpPr txBox="true"/>
            <p:nvPr/>
          </p:nvSpPr>
          <p:spPr>
            <a:xfrm>
              <a:off x="0" y="-47625"/>
              <a:ext cx="11406340" cy="6356490"/>
            </a:xfrm>
            <a:prstGeom prst="rect">
              <a:avLst/>
            </a:prstGeom>
          </p:spPr>
          <p:txBody>
            <a:bodyPr anchor="ctr" rtlCol="false" tIns="0" lIns="0" bIns="0" rIns="0"/>
            <a:lstStyle/>
            <a:p>
              <a:pPr algn="l">
                <a:lnSpc>
                  <a:spcPts val="2560"/>
                </a:lnSpc>
              </a:pPr>
            </a:p>
            <a:p>
              <a:pPr algn="l" marL="274546" indent="-137273" lvl="1">
                <a:lnSpc>
                  <a:spcPts val="2560"/>
                </a:lnSpc>
                <a:buFont typeface="Arial"/>
                <a:buChar char="•"/>
              </a:pPr>
              <a:r>
                <a:rPr lang="en-US" b="true" sz="2133">
                  <a:solidFill>
                    <a:srgbClr val="000000"/>
                  </a:solidFill>
                  <a:latin typeface="Arial Bold"/>
                  <a:ea typeface="Arial Bold"/>
                  <a:cs typeface="Arial Bold"/>
                  <a:sym typeface="Arial Bold"/>
                </a:rPr>
                <a:t>Image:</a:t>
              </a:r>
              <a:r>
                <a:rPr lang="en-US" sz="2133">
                  <a:solidFill>
                    <a:srgbClr val="000000"/>
                  </a:solidFill>
                  <a:latin typeface="Arial"/>
                  <a:ea typeface="Arial"/>
                  <a:cs typeface="Arial"/>
                  <a:sym typeface="Arial"/>
                </a:rPr>
                <a:t> Extract visual features (hazards, casualties, damage) using </a:t>
              </a:r>
              <a:r>
                <a:rPr lang="en-US" b="true" sz="2133">
                  <a:solidFill>
                    <a:srgbClr val="000000"/>
                  </a:solidFill>
                  <a:latin typeface="Arial Bold"/>
                  <a:ea typeface="Arial Bold"/>
                  <a:cs typeface="Arial Bold"/>
                  <a:sym typeface="Arial Bold"/>
                </a:rPr>
                <a:t>CNN/ViT</a:t>
              </a:r>
              <a:r>
                <a:rPr lang="en-US" sz="2133">
                  <a:solidFill>
                    <a:srgbClr val="000000"/>
                  </a:solidFill>
                  <a:latin typeface="Arial"/>
                  <a:ea typeface="Arial"/>
                  <a:cs typeface="Arial"/>
                  <a:sym typeface="Arial"/>
                </a:rPr>
                <a:t>.</a:t>
              </a:r>
              <a:r>
                <a:rPr lang="en-US" b="true" sz="2133">
                  <a:solidFill>
                    <a:srgbClr val="000000"/>
                  </a:solidFill>
                  <a:latin typeface="Arial Bold"/>
                  <a:ea typeface="Arial Bold"/>
                  <a:cs typeface="Arial Bold"/>
                  <a:sym typeface="Arial Bold"/>
                </a:rPr>
                <a:t> 1. CNN (Convolutional Neural Network)</a:t>
              </a:r>
            </a:p>
            <a:p>
              <a:pPr algn="l" marL="274546" indent="-137273" lvl="1">
                <a:lnSpc>
                  <a:spcPts val="2560"/>
                </a:lnSpc>
                <a:buFont typeface="Arial"/>
                <a:buChar char="•"/>
              </a:pPr>
              <a:r>
                <a:rPr lang="en-US" b="true" sz="2133">
                  <a:solidFill>
                    <a:srgbClr val="000000"/>
                  </a:solidFill>
                  <a:latin typeface="Calibri (MS) Bold"/>
                  <a:ea typeface="Calibri (MS) Bold"/>
                  <a:cs typeface="Calibri (MS) Bold"/>
                  <a:sym typeface="Calibri (MS) Bold"/>
                </a:rPr>
                <a:t>Use:</a:t>
              </a:r>
              <a:r>
                <a:rPr lang="en-US" sz="2133">
                  <a:solidFill>
                    <a:srgbClr val="000000"/>
                  </a:solidFill>
                  <a:latin typeface="Calibri (MS)"/>
                  <a:ea typeface="Calibri (MS)"/>
                  <a:cs typeface="Calibri (MS)"/>
                  <a:sym typeface="Calibri (MS)"/>
                </a:rPr>
                <a:t> Image feature extraction. </a:t>
              </a:r>
            </a:p>
            <a:p>
              <a:pPr algn="l" marL="274546" indent="-137273" lvl="1">
                <a:lnSpc>
                  <a:spcPts val="2560"/>
                </a:lnSpc>
                <a:buFont typeface="Arial"/>
                <a:buChar char="•"/>
              </a:pPr>
              <a:r>
                <a:rPr lang="en-US" b="true" sz="2133">
                  <a:solidFill>
                    <a:srgbClr val="000000"/>
                  </a:solidFill>
                  <a:latin typeface="Calibri (MS) Bold"/>
                  <a:ea typeface="Calibri (MS) Bold"/>
                  <a:cs typeface="Calibri (MS) Bold"/>
                  <a:sym typeface="Calibri (MS) Bold"/>
                </a:rPr>
                <a:t>Features Extracted:</a:t>
              </a:r>
              <a:r>
                <a:rPr lang="en-US" sz="2133">
                  <a:solidFill>
                    <a:srgbClr val="000000"/>
                  </a:solidFill>
                  <a:latin typeface="Calibri (MS)"/>
                  <a:ea typeface="Calibri (MS)"/>
                  <a:cs typeface="Calibri (MS)"/>
                  <a:sym typeface="Calibri (MS)"/>
                </a:rPr>
                <a:t> Casualties, damaged buildings, fire, smoke, vehicles, debris, road conditions, and hazard detection. </a:t>
              </a:r>
            </a:p>
            <a:p>
              <a:pPr algn="l" marL="274546" indent="-137273" lvl="1">
                <a:lnSpc>
                  <a:spcPts val="2560"/>
                </a:lnSpc>
              </a:pPr>
            </a:p>
            <a:p>
              <a:pPr algn="l" marL="274546" indent="-137273" lvl="1">
                <a:lnSpc>
                  <a:spcPts val="2560"/>
                </a:lnSpc>
                <a:buFont typeface="Arial"/>
                <a:buChar char="•"/>
              </a:pPr>
              <a:r>
                <a:rPr lang="en-US" b="true" sz="2133">
                  <a:solidFill>
                    <a:srgbClr val="000000"/>
                  </a:solidFill>
                  <a:latin typeface="Arial Bold"/>
                  <a:ea typeface="Arial Bold"/>
                  <a:cs typeface="Arial Bold"/>
                  <a:sym typeface="Arial Bold"/>
                </a:rPr>
                <a:t>Audio:</a:t>
              </a:r>
              <a:r>
                <a:rPr lang="en-US" sz="2133">
                  <a:solidFill>
                    <a:srgbClr val="000000"/>
                  </a:solidFill>
                  <a:latin typeface="Arial"/>
                  <a:ea typeface="Arial"/>
                  <a:cs typeface="Arial"/>
                  <a:sym typeface="Arial"/>
                </a:rPr>
                <a:t> Extract speech features using </a:t>
              </a:r>
              <a:r>
                <a:rPr lang="en-US" b="true" sz="2133">
                  <a:solidFill>
                    <a:srgbClr val="000000"/>
                  </a:solidFill>
                  <a:latin typeface="Arial Bold"/>
                  <a:ea typeface="Arial Bold"/>
                  <a:cs typeface="Arial Bold"/>
                  <a:sym typeface="Arial Bold"/>
                </a:rPr>
                <a:t>MFCC/Wav2Vec</a:t>
              </a:r>
              <a:r>
                <a:rPr lang="en-US" sz="2133">
                  <a:solidFill>
                    <a:srgbClr val="000000"/>
                  </a:solidFill>
                  <a:latin typeface="Arial"/>
                  <a:ea typeface="Arial"/>
                  <a:cs typeface="Arial"/>
                  <a:sym typeface="Arial"/>
                </a:rPr>
                <a:t>.</a:t>
              </a:r>
            </a:p>
            <a:p>
              <a:pPr algn="l" marL="274546" indent="-137273" lvl="1">
                <a:lnSpc>
                  <a:spcPts val="2560"/>
                </a:lnSpc>
                <a:buFont typeface="Arial"/>
                <a:buChar char="•"/>
              </a:pPr>
              <a:r>
                <a:rPr lang="en-US" b="true" sz="2133">
                  <a:solidFill>
                    <a:srgbClr val="000000"/>
                  </a:solidFill>
                  <a:latin typeface="Calibri (MS) Bold"/>
                  <a:ea typeface="Calibri (MS) Bold"/>
                  <a:cs typeface="Calibri (MS) Bold"/>
                  <a:sym typeface="Calibri (MS) Bold"/>
                </a:rPr>
                <a:t>Use:</a:t>
              </a:r>
              <a:r>
                <a:rPr lang="en-US" sz="2133">
                  <a:solidFill>
                    <a:srgbClr val="000000"/>
                  </a:solidFill>
                  <a:latin typeface="Calibri (MS)"/>
                  <a:ea typeface="Calibri (MS)"/>
                  <a:cs typeface="Calibri (MS)"/>
                  <a:sym typeface="Calibri (MS)"/>
                </a:rPr>
                <a:t> Automatic speech recognition and speech representation. </a:t>
              </a:r>
            </a:p>
            <a:p>
              <a:pPr algn="l" marL="274546" indent="-137273" lvl="1">
                <a:lnSpc>
                  <a:spcPts val="2560"/>
                </a:lnSpc>
                <a:buFont typeface="Arial"/>
                <a:buChar char="•"/>
              </a:pPr>
              <a:r>
                <a:rPr lang="en-US" b="true" sz="2133">
                  <a:solidFill>
                    <a:srgbClr val="000000"/>
                  </a:solidFill>
                  <a:latin typeface="Calibri (MS) Bold"/>
                  <a:ea typeface="Calibri (MS) Bold"/>
                  <a:cs typeface="Calibri (MS) Bold"/>
                  <a:sym typeface="Calibri (MS) Bold"/>
                </a:rPr>
                <a:t>Features Extracted:</a:t>
              </a:r>
              <a:r>
                <a:rPr lang="en-US" sz="2133">
                  <a:solidFill>
                    <a:srgbClr val="000000"/>
                  </a:solidFill>
                  <a:latin typeface="Calibri (MS)"/>
                  <a:ea typeface="Calibri (MS)"/>
                  <a:cs typeface="Calibri (MS)"/>
                  <a:sym typeface="Calibri (MS)"/>
                </a:rPr>
                <a:t> Speech embeddings, spoken commands, multilingual speech features, and noisy audio patterns. </a:t>
              </a:r>
            </a:p>
            <a:p>
              <a:pPr algn="l" marL="274546" indent="-137273" lvl="1">
                <a:lnSpc>
                  <a:spcPts val="2560"/>
                </a:lnSpc>
              </a:pPr>
            </a:p>
            <a:p>
              <a:pPr algn="l" marL="274546" indent="-137273" lvl="1">
                <a:lnSpc>
                  <a:spcPts val="2560"/>
                </a:lnSpc>
              </a:pPr>
            </a:p>
          </p:txBody>
        </p:sp>
      </p:grpSp>
    </p:spTree>
  </p:cSld>
  <p:clrMapOvr>
    <a:masterClrMapping/>
  </p:clrMapOvr>
  <p:transition spd="fast">
    <p:fade/>
  </p:transition>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87680" y="292608"/>
            <a:ext cx="8778240" cy="1219200"/>
            <a:chOff x="0" y="0"/>
            <a:chExt cx="11704320" cy="1625600"/>
          </a:xfrm>
        </p:grpSpPr>
        <p:sp>
          <p:nvSpPr>
            <p:cNvPr name="Freeform 3" id="3"/>
            <p:cNvSpPr/>
            <p:nvPr/>
          </p:nvSpPr>
          <p:spPr>
            <a:xfrm flipH="false" flipV="false" rot="0">
              <a:off x="0" y="0"/>
              <a:ext cx="11704320" cy="1625600"/>
            </a:xfrm>
            <a:custGeom>
              <a:avLst/>
              <a:gdLst/>
              <a:ahLst/>
              <a:cxnLst/>
              <a:rect r="r" b="b" t="t" l="l"/>
              <a:pathLst>
                <a:path h="1625600" w="11704320">
                  <a:moveTo>
                    <a:pt x="0" y="0"/>
                  </a:moveTo>
                  <a:lnTo>
                    <a:pt x="11704320" y="0"/>
                  </a:lnTo>
                  <a:lnTo>
                    <a:pt x="11704320" y="1625600"/>
                  </a:lnTo>
                  <a:lnTo>
                    <a:pt x="0" y="1625600"/>
                  </a:lnTo>
                  <a:close/>
                </a:path>
              </a:pathLst>
            </a:custGeom>
            <a:blipFill>
              <a:blip r:embed="rId2">
                <a:alphaModFix amt="0"/>
              </a:blip>
              <a:stretch>
                <a:fillRect l="0" t="-90292" r="0" b="-90292"/>
              </a:stretch>
            </a:blipFill>
          </p:spPr>
        </p:sp>
        <p:sp>
          <p:nvSpPr>
            <p:cNvPr name="TextBox 4" id="4"/>
            <p:cNvSpPr txBox="true"/>
            <p:nvPr/>
          </p:nvSpPr>
          <p:spPr>
            <a:xfrm>
              <a:off x="0" y="-28575"/>
              <a:ext cx="11704320" cy="1654175"/>
            </a:xfrm>
            <a:prstGeom prst="rect">
              <a:avLst/>
            </a:prstGeom>
          </p:spPr>
          <p:txBody>
            <a:bodyPr anchor="ctr" rtlCol="false" tIns="0" lIns="0" bIns="0" rIns="0"/>
            <a:lstStyle/>
            <a:p>
              <a:pPr algn="ctr">
                <a:lnSpc>
                  <a:spcPts val="5631"/>
                </a:lnSpc>
              </a:pPr>
              <a:r>
                <a:rPr lang="en-US" sz="4693" b="true">
                  <a:solidFill>
                    <a:srgbClr val="FF0000"/>
                  </a:solidFill>
                  <a:latin typeface="Times New Roman Bold"/>
                  <a:ea typeface="Times New Roman Bold"/>
                  <a:cs typeface="Times New Roman Bold"/>
                  <a:sym typeface="Times New Roman Bold"/>
                </a:rPr>
                <a:t>4.3 Feature Extraction </a:t>
              </a:r>
            </a:p>
          </p:txBody>
        </p:sp>
      </p:grpSp>
      <p:sp>
        <p:nvSpPr>
          <p:cNvPr name="TextBox 5" id="5"/>
          <p:cNvSpPr txBox="true"/>
          <p:nvPr/>
        </p:nvSpPr>
        <p:spPr>
          <a:xfrm rot="0">
            <a:off x="579120" y="1704975"/>
            <a:ext cx="8595360" cy="4783836"/>
          </a:xfrm>
          <a:prstGeom prst="rect">
            <a:avLst/>
          </a:prstGeom>
        </p:spPr>
        <p:txBody>
          <a:bodyPr anchor="t" rtlCol="false" tIns="0" lIns="0" bIns="0" rIns="0">
            <a:spAutoFit/>
          </a:bodyPr>
          <a:lstStyle/>
          <a:p>
            <a:pPr algn="l">
              <a:lnSpc>
                <a:spcPts val="2560"/>
              </a:lnSpc>
            </a:pPr>
          </a:p>
          <a:p>
            <a:pPr algn="l" marL="274546" indent="-137273" lvl="1">
              <a:lnSpc>
                <a:spcPts val="2560"/>
              </a:lnSpc>
              <a:buFont typeface="Arial"/>
              <a:buChar char="•"/>
            </a:pPr>
            <a:r>
              <a:rPr lang="en-US" b="true" sz="2133">
                <a:solidFill>
                  <a:srgbClr val="000000"/>
                </a:solidFill>
                <a:latin typeface="Arial Bold"/>
                <a:ea typeface="Arial Bold"/>
                <a:cs typeface="Arial Bold"/>
                <a:sym typeface="Arial Bold"/>
              </a:rPr>
              <a:t>GPS:</a:t>
            </a:r>
            <a:r>
              <a:rPr lang="en-US" sz="2133">
                <a:solidFill>
                  <a:srgbClr val="000000"/>
                </a:solidFill>
                <a:latin typeface="Arial"/>
                <a:ea typeface="Arial"/>
                <a:cs typeface="Arial"/>
                <a:sym typeface="Arial"/>
              </a:rPr>
              <a:t> Derive location and proximity features using </a:t>
            </a:r>
            <a:r>
              <a:rPr lang="en-US" b="true" sz="2133">
                <a:solidFill>
                  <a:srgbClr val="000000"/>
                </a:solidFill>
                <a:latin typeface="Arial Bold"/>
                <a:ea typeface="Arial Bold"/>
                <a:cs typeface="Arial Bold"/>
                <a:sym typeface="Arial Bold"/>
              </a:rPr>
              <a:t>GIS/Spatial Analysis</a:t>
            </a:r>
            <a:r>
              <a:rPr lang="en-US" sz="2133">
                <a:solidFill>
                  <a:srgbClr val="000000"/>
                </a:solidFill>
                <a:latin typeface="Arial"/>
                <a:ea typeface="Arial"/>
                <a:cs typeface="Arial"/>
                <a:sym typeface="Arial"/>
              </a:rPr>
              <a:t>.</a:t>
            </a:r>
          </a:p>
          <a:p>
            <a:pPr algn="l" marL="274546" indent="-137273" lvl="1">
              <a:lnSpc>
                <a:spcPts val="2560"/>
              </a:lnSpc>
              <a:buFont typeface="Arial"/>
              <a:buChar char="•"/>
            </a:pPr>
            <a:r>
              <a:rPr lang="en-US" sz="2133">
                <a:solidFill>
                  <a:srgbClr val="000000"/>
                </a:solidFill>
                <a:latin typeface="Calibri (MS)"/>
                <a:ea typeface="Calibri (MS)"/>
                <a:cs typeface="Calibri (MS)"/>
                <a:sym typeface="Calibri (MS)"/>
              </a:rPr>
              <a:t>Geospatial and location analysis. </a:t>
            </a:r>
          </a:p>
          <a:p>
            <a:pPr algn="l" marL="274546" indent="-137273" lvl="1">
              <a:lnSpc>
                <a:spcPts val="2560"/>
              </a:lnSpc>
              <a:buFont typeface="Arial"/>
              <a:buChar char="•"/>
            </a:pPr>
            <a:r>
              <a:rPr lang="en-US" b="true" sz="2133">
                <a:solidFill>
                  <a:srgbClr val="000000"/>
                </a:solidFill>
                <a:latin typeface="Calibri (MS) Bold"/>
                <a:ea typeface="Calibri (MS) Bold"/>
                <a:cs typeface="Calibri (MS) Bold"/>
                <a:sym typeface="Calibri (MS) Bold"/>
              </a:rPr>
              <a:t>Features Extracted:</a:t>
            </a:r>
            <a:r>
              <a:rPr lang="en-US" sz="2133">
                <a:solidFill>
                  <a:srgbClr val="000000"/>
                </a:solidFill>
                <a:latin typeface="Calibri (MS)"/>
                <a:ea typeface="Calibri (MS)"/>
                <a:cs typeface="Calibri (MS)"/>
                <a:sym typeface="Calibri (MS)"/>
              </a:rPr>
              <a:t> GPS coordinates, nearby hospitals, police stations, fire stations, road networks, and evacuation route</a:t>
            </a:r>
          </a:p>
          <a:p>
            <a:pPr algn="l" marL="274546" indent="-137273" lvl="1">
              <a:lnSpc>
                <a:spcPts val="2560"/>
              </a:lnSpc>
            </a:pPr>
          </a:p>
          <a:p>
            <a:pPr algn="l" marL="274546" indent="-137273" lvl="1">
              <a:lnSpc>
                <a:spcPts val="2560"/>
              </a:lnSpc>
              <a:buFont typeface="Arial"/>
              <a:buChar char="•"/>
            </a:pPr>
            <a:r>
              <a:rPr lang="en-US" b="true" sz="2133">
                <a:solidFill>
                  <a:srgbClr val="000000"/>
                </a:solidFill>
                <a:latin typeface="Arial Bold"/>
                <a:ea typeface="Arial Bold"/>
                <a:cs typeface="Arial Bold"/>
                <a:sym typeface="Arial Bold"/>
              </a:rPr>
              <a:t>Social-Temporal:</a:t>
            </a:r>
            <a:r>
              <a:rPr lang="en-US" sz="2133">
                <a:solidFill>
                  <a:srgbClr val="000000"/>
                </a:solidFill>
                <a:latin typeface="Arial"/>
                <a:ea typeface="Arial"/>
                <a:cs typeface="Arial"/>
                <a:sym typeface="Arial"/>
              </a:rPr>
              <a:t> Extract event and contextual features using </a:t>
            </a:r>
            <a:r>
              <a:rPr lang="en-US" b="true" sz="2133">
                <a:solidFill>
                  <a:srgbClr val="000000"/>
                </a:solidFill>
                <a:latin typeface="Arial Bold"/>
                <a:ea typeface="Arial Bold"/>
                <a:cs typeface="Arial Bold"/>
                <a:sym typeface="Arial Bold"/>
              </a:rPr>
              <a:t>NLP/Transformer</a:t>
            </a:r>
            <a:r>
              <a:rPr lang="en-US" sz="2133">
                <a:solidFill>
                  <a:srgbClr val="000000"/>
                </a:solidFill>
                <a:latin typeface="Arial"/>
                <a:ea typeface="Arial"/>
                <a:cs typeface="Arial"/>
                <a:sym typeface="Arial"/>
              </a:rPr>
              <a:t>.</a:t>
            </a:r>
          </a:p>
          <a:p>
            <a:pPr algn="l" marL="274546" indent="-137273" lvl="1">
              <a:lnSpc>
                <a:spcPts val="2560"/>
              </a:lnSpc>
              <a:buFont typeface="Arial"/>
              <a:buChar char="•"/>
            </a:pPr>
            <a:r>
              <a:rPr lang="en-US" sz="2133">
                <a:solidFill>
                  <a:srgbClr val="000000"/>
                </a:solidFill>
                <a:latin typeface="Calibri (MS)"/>
                <a:ea typeface="Calibri (MS)"/>
                <a:cs typeface="Calibri (MS)"/>
                <a:sym typeface="Calibri (MS)"/>
              </a:rPr>
              <a:t>Text and speech transcript analysis. </a:t>
            </a:r>
          </a:p>
          <a:p>
            <a:pPr algn="l" marL="274546" indent="-137273" lvl="1">
              <a:lnSpc>
                <a:spcPts val="2560"/>
              </a:lnSpc>
              <a:buFont typeface="Arial"/>
              <a:buChar char="•"/>
            </a:pPr>
            <a:r>
              <a:rPr lang="en-US" b="true" sz="2133">
                <a:solidFill>
                  <a:srgbClr val="000000"/>
                </a:solidFill>
                <a:latin typeface="Calibri (MS) Bold"/>
                <a:ea typeface="Calibri (MS) Bold"/>
                <a:cs typeface="Calibri (MS) Bold"/>
                <a:sym typeface="Calibri (MS) Bold"/>
              </a:rPr>
              <a:t>Features Extracted:</a:t>
            </a:r>
            <a:r>
              <a:rPr lang="en-US" sz="2133">
                <a:solidFill>
                  <a:srgbClr val="000000"/>
                </a:solidFill>
                <a:latin typeface="Calibri (MS)"/>
                <a:ea typeface="Calibri (MS)"/>
                <a:cs typeface="Calibri (MS)"/>
                <a:sym typeface="Calibri (MS)"/>
              </a:rPr>
              <a:t> Emergency keywords, incident type, victim condition, sentiment, and contextual information</a:t>
            </a:r>
          </a:p>
          <a:p>
            <a:pPr algn="l" marL="274546" indent="-137273" lvl="1">
              <a:lnSpc>
                <a:spcPts val="2560"/>
              </a:lnSpc>
            </a:pPr>
          </a:p>
        </p:txBody>
      </p:sp>
    </p:spTree>
  </p:cSld>
  <p:clrMapOvr>
    <a:masterClrMapping/>
  </p:clrMapOvr>
  <p:transition spd="fast">
    <p:fade/>
  </p:transition>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87680" y="292608"/>
            <a:ext cx="8778240" cy="1219200"/>
            <a:chOff x="0" y="0"/>
            <a:chExt cx="11704320" cy="1625600"/>
          </a:xfrm>
        </p:grpSpPr>
        <p:sp>
          <p:nvSpPr>
            <p:cNvPr name="Freeform 3" id="3"/>
            <p:cNvSpPr/>
            <p:nvPr/>
          </p:nvSpPr>
          <p:spPr>
            <a:xfrm flipH="false" flipV="false" rot="0">
              <a:off x="0" y="0"/>
              <a:ext cx="11704320" cy="1625600"/>
            </a:xfrm>
            <a:custGeom>
              <a:avLst/>
              <a:gdLst/>
              <a:ahLst/>
              <a:cxnLst/>
              <a:rect r="r" b="b" t="t" l="l"/>
              <a:pathLst>
                <a:path h="1625600" w="11704320">
                  <a:moveTo>
                    <a:pt x="0" y="0"/>
                  </a:moveTo>
                  <a:lnTo>
                    <a:pt x="11704320" y="0"/>
                  </a:lnTo>
                  <a:lnTo>
                    <a:pt x="11704320" y="1625600"/>
                  </a:lnTo>
                  <a:lnTo>
                    <a:pt x="0" y="1625600"/>
                  </a:lnTo>
                  <a:close/>
                </a:path>
              </a:pathLst>
            </a:custGeom>
            <a:blipFill>
              <a:blip r:embed="rId2">
                <a:alphaModFix amt="0"/>
              </a:blip>
              <a:stretch>
                <a:fillRect l="0" t="-90292" r="0" b="-90292"/>
              </a:stretch>
            </a:blipFill>
          </p:spPr>
        </p:sp>
        <p:sp>
          <p:nvSpPr>
            <p:cNvPr name="TextBox 4" id="4"/>
            <p:cNvSpPr txBox="true"/>
            <p:nvPr/>
          </p:nvSpPr>
          <p:spPr>
            <a:xfrm>
              <a:off x="0" y="-19050"/>
              <a:ext cx="11704320" cy="1644650"/>
            </a:xfrm>
            <a:prstGeom prst="rect">
              <a:avLst/>
            </a:prstGeom>
          </p:spPr>
          <p:txBody>
            <a:bodyPr anchor="ctr" rtlCol="false" tIns="0" lIns="0" bIns="0" rIns="0"/>
            <a:lstStyle/>
            <a:p>
              <a:pPr algn="ctr">
                <a:lnSpc>
                  <a:spcPts val="5120"/>
                </a:lnSpc>
              </a:pPr>
              <a:r>
                <a:rPr lang="en-US" sz="4266" b="true">
                  <a:solidFill>
                    <a:srgbClr val="FF0000"/>
                  </a:solidFill>
                  <a:latin typeface="Times New Roman Bold"/>
                  <a:ea typeface="Times New Roman Bold"/>
                  <a:cs typeface="Times New Roman Bold"/>
                  <a:sym typeface="Times New Roman Bold"/>
                </a:rPr>
                <a:t>4.4 Classification Module</a:t>
              </a:r>
            </a:p>
          </p:txBody>
        </p:sp>
      </p:grpSp>
      <p:grpSp>
        <p:nvGrpSpPr>
          <p:cNvPr name="Group 5" id="5"/>
          <p:cNvGrpSpPr/>
          <p:nvPr/>
        </p:nvGrpSpPr>
        <p:grpSpPr>
          <a:xfrm rot="0">
            <a:off x="162430" y="1413500"/>
            <a:ext cx="9428740" cy="5351040"/>
            <a:chOff x="0" y="0"/>
            <a:chExt cx="12571654" cy="7134720"/>
          </a:xfrm>
        </p:grpSpPr>
        <p:sp>
          <p:nvSpPr>
            <p:cNvPr name="Freeform 6" id="6"/>
            <p:cNvSpPr/>
            <p:nvPr/>
          </p:nvSpPr>
          <p:spPr>
            <a:xfrm flipH="false" flipV="false" rot="0">
              <a:off x="0" y="0"/>
              <a:ext cx="12571648" cy="7134720"/>
            </a:xfrm>
            <a:custGeom>
              <a:avLst/>
              <a:gdLst/>
              <a:ahLst/>
              <a:cxnLst/>
              <a:rect r="r" b="b" t="t" l="l"/>
              <a:pathLst>
                <a:path h="7134720" w="12571648">
                  <a:moveTo>
                    <a:pt x="0" y="0"/>
                  </a:moveTo>
                  <a:lnTo>
                    <a:pt x="12571648" y="0"/>
                  </a:lnTo>
                  <a:lnTo>
                    <a:pt x="12571648" y="7134720"/>
                  </a:lnTo>
                  <a:lnTo>
                    <a:pt x="0" y="7134720"/>
                  </a:lnTo>
                  <a:close/>
                </a:path>
              </a:pathLst>
            </a:custGeom>
            <a:blipFill>
              <a:blip r:embed="rId2">
                <a:alphaModFix amt="0"/>
              </a:blip>
              <a:stretch>
                <a:fillRect l="-22815" t="0" r="-22815" b="0"/>
              </a:stretch>
            </a:blipFill>
          </p:spPr>
        </p:sp>
        <p:sp>
          <p:nvSpPr>
            <p:cNvPr name="TextBox 7" id="7"/>
            <p:cNvSpPr txBox="true"/>
            <p:nvPr/>
          </p:nvSpPr>
          <p:spPr>
            <a:xfrm>
              <a:off x="0" y="-9525"/>
              <a:ext cx="12571654" cy="7144245"/>
            </a:xfrm>
            <a:prstGeom prst="rect">
              <a:avLst/>
            </a:prstGeom>
          </p:spPr>
          <p:txBody>
            <a:bodyPr anchor="ctr" rtlCol="false" tIns="0" lIns="0" bIns="0" rIns="0"/>
            <a:lstStyle/>
            <a:p>
              <a:pPr algn="just">
                <a:lnSpc>
                  <a:spcPts val="2560"/>
                </a:lnSpc>
              </a:pPr>
              <a:r>
                <a:rPr lang="en-US" sz="2133">
                  <a:solidFill>
                    <a:srgbClr val="000000"/>
                  </a:solidFill>
                  <a:latin typeface="Arial"/>
                  <a:ea typeface="Arial"/>
                  <a:cs typeface="Arial"/>
                  <a:sym typeface="Arial"/>
                </a:rPr>
                <a:t>The proposed </a:t>
              </a:r>
              <a:r>
                <a:rPr lang="en-US" sz="2133" b="true">
                  <a:solidFill>
                    <a:srgbClr val="000000"/>
                  </a:solidFill>
                  <a:latin typeface="Arial Bold"/>
                  <a:ea typeface="Arial Bold"/>
                  <a:cs typeface="Arial Bold"/>
                  <a:sym typeface="Arial Bold"/>
                </a:rPr>
                <a:t>Edge-powered Multimodal Context-Aware Emergency Triage System</a:t>
              </a:r>
              <a:r>
                <a:rPr lang="en-US" sz="2133">
                  <a:solidFill>
                    <a:srgbClr val="000000"/>
                  </a:solidFill>
                  <a:latin typeface="Arial"/>
                  <a:ea typeface="Arial"/>
                  <a:cs typeface="Arial"/>
                  <a:sym typeface="Arial"/>
                </a:rPr>
                <a:t> employs benchmark classification models to analyze multimodal emergency data. </a:t>
              </a:r>
              <a:r>
                <a:rPr lang="en-US" sz="2133" b="true">
                  <a:solidFill>
                    <a:srgbClr val="000000"/>
                  </a:solidFill>
                  <a:latin typeface="Arial Bold"/>
                  <a:ea typeface="Arial Bold"/>
                  <a:cs typeface="Arial Bold"/>
                  <a:sym typeface="Arial Bold"/>
                </a:rPr>
                <a:t>Vision Transformer (ViT)</a:t>
              </a:r>
              <a:r>
                <a:rPr lang="en-US" sz="2133">
                  <a:solidFill>
                    <a:srgbClr val="000000"/>
                  </a:solidFill>
                  <a:latin typeface="Arial"/>
                  <a:ea typeface="Arial"/>
                  <a:cs typeface="Arial"/>
                  <a:sym typeface="Arial"/>
                </a:rPr>
                <a:t> is used for </a:t>
              </a:r>
              <a:r>
                <a:rPr lang="en-US" sz="2133" b="true">
                  <a:solidFill>
                    <a:srgbClr val="000000"/>
                  </a:solidFill>
                  <a:latin typeface="Arial Bold"/>
                  <a:ea typeface="Arial Bold"/>
                  <a:cs typeface="Arial Bold"/>
                  <a:sym typeface="Arial Bold"/>
                </a:rPr>
                <a:t>Incident Type Classification</a:t>
              </a:r>
              <a:r>
                <a:rPr lang="en-US" sz="2133">
                  <a:solidFill>
                    <a:srgbClr val="000000"/>
                  </a:solidFill>
                  <a:latin typeface="Arial"/>
                  <a:ea typeface="Arial"/>
                  <a:cs typeface="Arial"/>
                  <a:sym typeface="Arial"/>
                </a:rPr>
                <a:t>, identifying emergencies such as road accidents, fires, floods, and collapsed buildings from image and video data. </a:t>
              </a:r>
              <a:r>
                <a:rPr lang="en-US" sz="2133" b="true">
                  <a:solidFill>
                    <a:srgbClr val="000000"/>
                  </a:solidFill>
                  <a:latin typeface="Arial Bold"/>
                  <a:ea typeface="Arial Bold"/>
                  <a:cs typeface="Arial Bold"/>
                  <a:sym typeface="Arial Bold"/>
                </a:rPr>
                <a:t>Convolutional Neural Network (CNN)</a:t>
              </a:r>
              <a:r>
                <a:rPr lang="en-US" sz="2133">
                  <a:solidFill>
                    <a:srgbClr val="000000"/>
                  </a:solidFill>
                  <a:latin typeface="Arial"/>
                  <a:ea typeface="Arial"/>
                  <a:cs typeface="Arial"/>
                  <a:sym typeface="Arial"/>
                </a:rPr>
                <a:t> performs </a:t>
              </a:r>
              <a:r>
                <a:rPr lang="en-US" sz="2133" b="true">
                  <a:solidFill>
                    <a:srgbClr val="000000"/>
                  </a:solidFill>
                  <a:latin typeface="Arial Bold"/>
                  <a:ea typeface="Arial Bold"/>
                  <a:cs typeface="Arial Bold"/>
                  <a:sym typeface="Arial Bold"/>
                </a:rPr>
                <a:t>Damage and Severity Classification</a:t>
              </a:r>
              <a:r>
                <a:rPr lang="en-US" sz="2133">
                  <a:solidFill>
                    <a:srgbClr val="000000"/>
                  </a:solidFill>
                  <a:latin typeface="Arial"/>
                  <a:ea typeface="Arial"/>
                  <a:cs typeface="Arial"/>
                  <a:sym typeface="Arial"/>
                </a:rPr>
                <a:t> by assessing infrastructure damage, vehicle conditions, and casualty severity from visual inputs. </a:t>
              </a:r>
              <a:r>
                <a:rPr lang="en-US" sz="2133" b="true">
                  <a:solidFill>
                    <a:srgbClr val="000000"/>
                  </a:solidFill>
                  <a:latin typeface="Arial Bold"/>
                  <a:ea typeface="Arial Bold"/>
                  <a:cs typeface="Arial Bold"/>
                  <a:sym typeface="Arial Bold"/>
                </a:rPr>
                <a:t>DistilBERT</a:t>
              </a:r>
              <a:r>
                <a:rPr lang="en-US" sz="2133">
                  <a:solidFill>
                    <a:srgbClr val="000000"/>
                  </a:solidFill>
                  <a:latin typeface="Arial"/>
                  <a:ea typeface="Arial"/>
                  <a:cs typeface="Arial"/>
                  <a:sym typeface="Arial"/>
                </a:rPr>
                <a:t>, a lightweight Natural Language Processing model, is utilized for </a:t>
              </a:r>
              <a:r>
                <a:rPr lang="en-US" sz="2133" b="true">
                  <a:solidFill>
                    <a:srgbClr val="000000"/>
                  </a:solidFill>
                  <a:latin typeface="Arial Bold"/>
                  <a:ea typeface="Arial Bold"/>
                  <a:cs typeface="Arial Bold"/>
                  <a:sym typeface="Arial Bold"/>
                </a:rPr>
                <a:t>Emergency Text Classification</a:t>
              </a:r>
              <a:r>
                <a:rPr lang="en-US" sz="2133">
                  <a:solidFill>
                    <a:srgbClr val="000000"/>
                  </a:solidFill>
                  <a:latin typeface="Arial"/>
                  <a:ea typeface="Arial"/>
                  <a:cs typeface="Arial"/>
                  <a:sym typeface="Arial"/>
                </a:rPr>
                <a:t>, analyzing emergency call transcripts, SMS alerts, and disaster reports to determine the incident category and urgency. Finally, </a:t>
              </a:r>
              <a:r>
                <a:rPr lang="en-US" sz="2133" b="true">
                  <a:solidFill>
                    <a:srgbClr val="000000"/>
                  </a:solidFill>
                  <a:latin typeface="Arial Bold"/>
                  <a:ea typeface="Arial Bold"/>
                  <a:cs typeface="Arial Bold"/>
                  <a:sym typeface="Arial Bold"/>
                </a:rPr>
                <a:t>Random Forest</a:t>
              </a:r>
              <a:r>
                <a:rPr lang="en-US" sz="2133">
                  <a:solidFill>
                    <a:srgbClr val="000000"/>
                  </a:solidFill>
                  <a:latin typeface="Arial"/>
                  <a:ea typeface="Arial"/>
                  <a:cs typeface="Arial"/>
                  <a:sym typeface="Arial"/>
                </a:rPr>
                <a:t> serves as the </a:t>
              </a:r>
              <a:r>
                <a:rPr lang="en-US" sz="2133" b="true">
                  <a:solidFill>
                    <a:srgbClr val="000000"/>
                  </a:solidFill>
                  <a:latin typeface="Arial Bold"/>
                  <a:ea typeface="Arial Bold"/>
                  <a:cs typeface="Arial Bold"/>
                  <a:sym typeface="Arial Bold"/>
                </a:rPr>
                <a:t>Priority/Triage Classification</a:t>
              </a:r>
              <a:r>
                <a:rPr lang="en-US" sz="2133">
                  <a:solidFill>
                    <a:srgbClr val="000000"/>
                  </a:solidFill>
                  <a:latin typeface="Arial"/>
                  <a:ea typeface="Arial"/>
                  <a:cs typeface="Arial"/>
                  <a:sym typeface="Arial"/>
                </a:rPr>
                <a:t> module by combining outputs from the visual, textual, sensor, GIS, and temporal data to classify incidents into </a:t>
              </a:r>
              <a:r>
                <a:rPr lang="en-US" sz="2133" b="true">
                  <a:solidFill>
                    <a:srgbClr val="000000"/>
                  </a:solidFill>
                  <a:latin typeface="Arial Bold"/>
                  <a:ea typeface="Arial Bold"/>
                  <a:cs typeface="Arial Bold"/>
                  <a:sym typeface="Arial Bold"/>
                </a:rPr>
                <a:t>Critical, High, Moderate, or Low</a:t>
              </a:r>
              <a:r>
                <a:rPr lang="en-US" sz="2133">
                  <a:solidFill>
                    <a:srgbClr val="000000"/>
                  </a:solidFill>
                  <a:latin typeface="Arial"/>
                  <a:ea typeface="Arial"/>
                  <a:cs typeface="Arial"/>
                  <a:sym typeface="Arial"/>
                </a:rPr>
                <a:t> priority levels. This modular framework enables accurate, real-time emergency assessment while remaining computationally efficient for edge deployment.</a:t>
              </a:r>
            </a:p>
          </p:txBody>
        </p:sp>
      </p:grpSp>
    </p:spTree>
  </p:cSld>
  <p:clrMapOvr>
    <a:masterClrMapping/>
  </p:clrMapOvr>
  <p:transition spd="fast">
    <p:fade/>
  </p:transition>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87680" y="6780286"/>
            <a:ext cx="2275970" cy="389372"/>
            <a:chOff x="0" y="0"/>
            <a:chExt cx="3034627" cy="519163"/>
          </a:xfrm>
        </p:grpSpPr>
        <p:sp>
          <p:nvSpPr>
            <p:cNvPr name="Freeform 3" id="3"/>
            <p:cNvSpPr/>
            <p:nvPr/>
          </p:nvSpPr>
          <p:spPr>
            <a:xfrm flipH="false" flipV="false" rot="0">
              <a:off x="0" y="0"/>
              <a:ext cx="3034624" cy="519168"/>
            </a:xfrm>
            <a:custGeom>
              <a:avLst/>
              <a:gdLst/>
              <a:ahLst/>
              <a:cxnLst/>
              <a:rect r="r" b="b" t="t" l="l"/>
              <a:pathLst>
                <a:path h="519168" w="3034624">
                  <a:moveTo>
                    <a:pt x="0" y="0"/>
                  </a:moveTo>
                  <a:lnTo>
                    <a:pt x="3034624" y="0"/>
                  </a:lnTo>
                  <a:lnTo>
                    <a:pt x="3034624" y="519168"/>
                  </a:lnTo>
                  <a:lnTo>
                    <a:pt x="0" y="519168"/>
                  </a:lnTo>
                  <a:close/>
                </a:path>
              </a:pathLst>
            </a:custGeom>
            <a:blipFill>
              <a:blip r:embed="rId2">
                <a:alphaModFix amt="0"/>
              </a:blip>
              <a:stretch>
                <a:fillRect l="0" t="-63893" r="0" b="-63892"/>
              </a:stretch>
            </a:blipFill>
          </p:spPr>
        </p:sp>
        <p:sp>
          <p:nvSpPr>
            <p:cNvPr name="TextBox 4" id="4"/>
            <p:cNvSpPr txBox="true"/>
            <p:nvPr/>
          </p:nvSpPr>
          <p:spPr>
            <a:xfrm>
              <a:off x="0" y="-28575"/>
              <a:ext cx="3034627" cy="547738"/>
            </a:xfrm>
            <a:prstGeom prst="rect">
              <a:avLst/>
            </a:prstGeom>
          </p:spPr>
          <p:txBody>
            <a:bodyPr anchor="ctr" rtlCol="false" tIns="0" lIns="0" bIns="0" rIns="0"/>
            <a:lstStyle/>
            <a:p>
              <a:pPr algn="l">
                <a:lnSpc>
                  <a:spcPts val="1535"/>
                </a:lnSpc>
              </a:pPr>
              <a:r>
                <a:rPr lang="en-US" sz="1279">
                  <a:solidFill>
                    <a:srgbClr val="898989"/>
                  </a:solidFill>
                  <a:latin typeface="Calibri (MS)"/>
                  <a:ea typeface="Calibri (MS)"/>
                  <a:cs typeface="Calibri (MS)"/>
                  <a:sym typeface="Calibri (MS)"/>
                </a:rPr>
                <a:t>Jul 22, 2026</a:t>
              </a:r>
            </a:p>
          </p:txBody>
        </p:sp>
      </p:grpSp>
      <p:grpSp>
        <p:nvGrpSpPr>
          <p:cNvPr name="Group 5" id="5"/>
          <p:cNvGrpSpPr/>
          <p:nvPr/>
        </p:nvGrpSpPr>
        <p:grpSpPr>
          <a:xfrm rot="0">
            <a:off x="3332350" y="6780286"/>
            <a:ext cx="3088900" cy="389372"/>
            <a:chOff x="0" y="0"/>
            <a:chExt cx="4118534" cy="519163"/>
          </a:xfrm>
        </p:grpSpPr>
        <p:sp>
          <p:nvSpPr>
            <p:cNvPr name="Freeform 6" id="6"/>
            <p:cNvSpPr/>
            <p:nvPr/>
          </p:nvSpPr>
          <p:spPr>
            <a:xfrm flipH="false" flipV="false" rot="0">
              <a:off x="0" y="0"/>
              <a:ext cx="4118528" cy="519168"/>
            </a:xfrm>
            <a:custGeom>
              <a:avLst/>
              <a:gdLst/>
              <a:ahLst/>
              <a:cxnLst/>
              <a:rect r="r" b="b" t="t" l="l"/>
              <a:pathLst>
                <a:path h="519168" w="4118528">
                  <a:moveTo>
                    <a:pt x="0" y="0"/>
                  </a:moveTo>
                  <a:lnTo>
                    <a:pt x="4118528" y="0"/>
                  </a:lnTo>
                  <a:lnTo>
                    <a:pt x="4118528" y="519168"/>
                  </a:lnTo>
                  <a:lnTo>
                    <a:pt x="0" y="519168"/>
                  </a:lnTo>
                  <a:close/>
                </a:path>
              </a:pathLst>
            </a:custGeom>
            <a:blipFill>
              <a:blip r:embed="rId2">
                <a:alphaModFix amt="0"/>
              </a:blip>
              <a:stretch>
                <a:fillRect l="0" t="-104574" r="0" b="-104573"/>
              </a:stretch>
            </a:blipFill>
          </p:spPr>
        </p:sp>
        <p:sp>
          <p:nvSpPr>
            <p:cNvPr name="TextBox 7" id="7"/>
            <p:cNvSpPr txBox="true"/>
            <p:nvPr/>
          </p:nvSpPr>
          <p:spPr>
            <a:xfrm>
              <a:off x="0" y="-28575"/>
              <a:ext cx="4118534" cy="547738"/>
            </a:xfrm>
            <a:prstGeom prst="rect">
              <a:avLst/>
            </a:prstGeom>
          </p:spPr>
          <p:txBody>
            <a:bodyPr anchor="ctr" rtlCol="false" tIns="0" lIns="0" bIns="0" rIns="0"/>
            <a:lstStyle/>
            <a:p>
              <a:pPr algn="ctr">
                <a:lnSpc>
                  <a:spcPts val="1535"/>
                </a:lnSpc>
              </a:pPr>
              <a:r>
                <a:rPr lang="en-US" sz="1279">
                  <a:solidFill>
                    <a:srgbClr val="898989"/>
                  </a:solidFill>
                  <a:latin typeface="Calibri (MS)"/>
                  <a:ea typeface="Calibri (MS)"/>
                  <a:cs typeface="Calibri (MS)"/>
                  <a:sym typeface="Calibri (MS)"/>
                </a:rPr>
                <a:t>Face Forgery Detection Using DL</a:t>
              </a:r>
            </a:p>
          </p:txBody>
        </p:sp>
      </p:grpSp>
      <p:grpSp>
        <p:nvGrpSpPr>
          <p:cNvPr name="Group 8" id="8"/>
          <p:cNvGrpSpPr/>
          <p:nvPr/>
        </p:nvGrpSpPr>
        <p:grpSpPr>
          <a:xfrm rot="0">
            <a:off x="6989950" y="6780286"/>
            <a:ext cx="2275970" cy="389372"/>
            <a:chOff x="0" y="0"/>
            <a:chExt cx="3034627" cy="519163"/>
          </a:xfrm>
        </p:grpSpPr>
        <p:sp>
          <p:nvSpPr>
            <p:cNvPr name="Freeform 9" id="9"/>
            <p:cNvSpPr/>
            <p:nvPr/>
          </p:nvSpPr>
          <p:spPr>
            <a:xfrm flipH="false" flipV="false" rot="0">
              <a:off x="0" y="0"/>
              <a:ext cx="3034624" cy="519168"/>
            </a:xfrm>
            <a:custGeom>
              <a:avLst/>
              <a:gdLst/>
              <a:ahLst/>
              <a:cxnLst/>
              <a:rect r="r" b="b" t="t" l="l"/>
              <a:pathLst>
                <a:path h="519168" w="3034624">
                  <a:moveTo>
                    <a:pt x="0" y="0"/>
                  </a:moveTo>
                  <a:lnTo>
                    <a:pt x="3034624" y="0"/>
                  </a:lnTo>
                  <a:lnTo>
                    <a:pt x="3034624" y="519168"/>
                  </a:lnTo>
                  <a:lnTo>
                    <a:pt x="0" y="519168"/>
                  </a:lnTo>
                  <a:close/>
                </a:path>
              </a:pathLst>
            </a:custGeom>
            <a:blipFill>
              <a:blip r:embed="rId2">
                <a:alphaModFix amt="0"/>
              </a:blip>
              <a:stretch>
                <a:fillRect l="0" t="-63893" r="0" b="-63892"/>
              </a:stretch>
            </a:blipFill>
          </p:spPr>
        </p:sp>
        <p:sp>
          <p:nvSpPr>
            <p:cNvPr name="TextBox 10" id="10"/>
            <p:cNvSpPr txBox="true"/>
            <p:nvPr/>
          </p:nvSpPr>
          <p:spPr>
            <a:xfrm>
              <a:off x="0" y="-28575"/>
              <a:ext cx="3034627" cy="547738"/>
            </a:xfrm>
            <a:prstGeom prst="rect">
              <a:avLst/>
            </a:prstGeom>
          </p:spPr>
          <p:txBody>
            <a:bodyPr anchor="ctr" rtlCol="false" tIns="0" lIns="0" bIns="0" rIns="0"/>
            <a:lstStyle/>
            <a:p>
              <a:pPr algn="r">
                <a:lnSpc>
                  <a:spcPts val="1535"/>
                </a:lnSpc>
              </a:pPr>
              <a:r>
                <a:rPr lang="en-US" sz="1279">
                  <a:solidFill>
                    <a:srgbClr val="898989"/>
                  </a:solidFill>
                  <a:latin typeface="Calibri (MS)"/>
                  <a:ea typeface="Calibri (MS)"/>
                  <a:cs typeface="Calibri (MS)"/>
                  <a:sym typeface="Calibri (MS)"/>
                </a:rPr>
                <a:t>&lt;number&gt;</a:t>
              </a:r>
            </a:p>
          </p:txBody>
        </p:sp>
      </p:grpSp>
      <p:grpSp>
        <p:nvGrpSpPr>
          <p:cNvPr name="Group 11" id="11"/>
          <p:cNvGrpSpPr/>
          <p:nvPr/>
        </p:nvGrpSpPr>
        <p:grpSpPr>
          <a:xfrm rot="0">
            <a:off x="487680" y="292608"/>
            <a:ext cx="8778240" cy="1219200"/>
            <a:chOff x="0" y="0"/>
            <a:chExt cx="11704320" cy="1625600"/>
          </a:xfrm>
        </p:grpSpPr>
        <p:sp>
          <p:nvSpPr>
            <p:cNvPr name="Freeform 12" id="12"/>
            <p:cNvSpPr/>
            <p:nvPr/>
          </p:nvSpPr>
          <p:spPr>
            <a:xfrm flipH="false" flipV="false" rot="0">
              <a:off x="0" y="0"/>
              <a:ext cx="11704320" cy="1625600"/>
            </a:xfrm>
            <a:custGeom>
              <a:avLst/>
              <a:gdLst/>
              <a:ahLst/>
              <a:cxnLst/>
              <a:rect r="r" b="b" t="t" l="l"/>
              <a:pathLst>
                <a:path h="1625600" w="11704320">
                  <a:moveTo>
                    <a:pt x="0" y="0"/>
                  </a:moveTo>
                  <a:lnTo>
                    <a:pt x="11704320" y="0"/>
                  </a:lnTo>
                  <a:lnTo>
                    <a:pt x="11704320" y="1625600"/>
                  </a:lnTo>
                  <a:lnTo>
                    <a:pt x="0" y="1625600"/>
                  </a:lnTo>
                  <a:close/>
                </a:path>
              </a:pathLst>
            </a:custGeom>
            <a:blipFill>
              <a:blip r:embed="rId2">
                <a:alphaModFix amt="0"/>
              </a:blip>
              <a:stretch>
                <a:fillRect l="0" t="-90292" r="0" b="-90292"/>
              </a:stretch>
            </a:blipFill>
          </p:spPr>
        </p:sp>
        <p:sp>
          <p:nvSpPr>
            <p:cNvPr name="TextBox 13" id="13"/>
            <p:cNvSpPr txBox="true"/>
            <p:nvPr/>
          </p:nvSpPr>
          <p:spPr>
            <a:xfrm>
              <a:off x="0" y="-19050"/>
              <a:ext cx="11704320" cy="1644650"/>
            </a:xfrm>
            <a:prstGeom prst="rect">
              <a:avLst/>
            </a:prstGeom>
          </p:spPr>
          <p:txBody>
            <a:bodyPr anchor="ctr" rtlCol="false" tIns="0" lIns="0" bIns="0" rIns="0"/>
            <a:lstStyle/>
            <a:p>
              <a:pPr algn="ctr">
                <a:lnSpc>
                  <a:spcPts val="5120"/>
                </a:lnSpc>
              </a:pPr>
              <a:r>
                <a:rPr lang="en-US" sz="4266" b="true">
                  <a:solidFill>
                    <a:srgbClr val="FF0000"/>
                  </a:solidFill>
                  <a:latin typeface="Times New Roman Bold"/>
                  <a:ea typeface="Times New Roman Bold"/>
                  <a:cs typeface="Times New Roman Bold"/>
                  <a:sym typeface="Times New Roman Bold"/>
                </a:rPr>
                <a:t>5. RESULTS AND DISCUSSION</a:t>
              </a:r>
            </a:p>
          </p:txBody>
        </p:sp>
      </p:grpSp>
      <p:grpSp>
        <p:nvGrpSpPr>
          <p:cNvPr name="Group 14" id="14"/>
          <p:cNvGrpSpPr/>
          <p:nvPr/>
        </p:nvGrpSpPr>
        <p:grpSpPr>
          <a:xfrm rot="0">
            <a:off x="162430" y="1276798"/>
            <a:ext cx="9428740" cy="5909758"/>
            <a:chOff x="0" y="0"/>
            <a:chExt cx="12571654" cy="7879677"/>
          </a:xfrm>
        </p:grpSpPr>
        <p:sp>
          <p:nvSpPr>
            <p:cNvPr name="Freeform 15" id="15" descr="A table of informational text  AI-generated content may be incorrect."/>
            <p:cNvSpPr/>
            <p:nvPr/>
          </p:nvSpPr>
          <p:spPr>
            <a:xfrm flipH="false" flipV="false" rot="0">
              <a:off x="0" y="0"/>
              <a:ext cx="12571603" cy="7879715"/>
            </a:xfrm>
            <a:custGeom>
              <a:avLst/>
              <a:gdLst/>
              <a:ahLst/>
              <a:cxnLst/>
              <a:rect r="r" b="b" t="t" l="l"/>
              <a:pathLst>
                <a:path h="7879715" w="12571603">
                  <a:moveTo>
                    <a:pt x="0" y="0"/>
                  </a:moveTo>
                  <a:lnTo>
                    <a:pt x="12571603" y="0"/>
                  </a:lnTo>
                  <a:lnTo>
                    <a:pt x="12571603" y="7879715"/>
                  </a:lnTo>
                  <a:lnTo>
                    <a:pt x="0" y="7879715"/>
                  </a:lnTo>
                  <a:lnTo>
                    <a:pt x="0" y="0"/>
                  </a:lnTo>
                  <a:close/>
                </a:path>
              </a:pathLst>
            </a:custGeom>
            <a:blipFill>
              <a:blip r:embed="rId3"/>
              <a:stretch>
                <a:fillRect l="0" t="-3181" r="0" b="-3181"/>
              </a:stretch>
            </a:blipFill>
          </p:spPr>
        </p:sp>
      </p:grpSp>
    </p:spTree>
  </p:cSld>
  <p:clrMapOvr>
    <a:masterClrMapping/>
  </p:clrMapOvr>
  <p:transition spd="fast">
    <p:fade/>
  </p:transition>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1410" y="121729"/>
            <a:ext cx="8778240" cy="1219200"/>
            <a:chOff x="0" y="0"/>
            <a:chExt cx="11704320" cy="1625600"/>
          </a:xfrm>
        </p:grpSpPr>
        <p:sp>
          <p:nvSpPr>
            <p:cNvPr name="Freeform 3" id="3"/>
            <p:cNvSpPr/>
            <p:nvPr/>
          </p:nvSpPr>
          <p:spPr>
            <a:xfrm flipH="false" flipV="false" rot="0">
              <a:off x="0" y="0"/>
              <a:ext cx="11704320" cy="1625600"/>
            </a:xfrm>
            <a:custGeom>
              <a:avLst/>
              <a:gdLst/>
              <a:ahLst/>
              <a:cxnLst/>
              <a:rect r="r" b="b" t="t" l="l"/>
              <a:pathLst>
                <a:path h="1625600" w="11704320">
                  <a:moveTo>
                    <a:pt x="0" y="0"/>
                  </a:moveTo>
                  <a:lnTo>
                    <a:pt x="11704320" y="0"/>
                  </a:lnTo>
                  <a:lnTo>
                    <a:pt x="11704320" y="1625600"/>
                  </a:lnTo>
                  <a:lnTo>
                    <a:pt x="0" y="1625600"/>
                  </a:lnTo>
                  <a:close/>
                </a:path>
              </a:pathLst>
            </a:custGeom>
            <a:blipFill>
              <a:blip r:embed="rId2">
                <a:alphaModFix amt="0"/>
              </a:blip>
              <a:stretch>
                <a:fillRect l="0" t="-90292" r="0" b="-90292"/>
              </a:stretch>
            </a:blipFill>
          </p:spPr>
        </p:sp>
        <p:sp>
          <p:nvSpPr>
            <p:cNvPr name="TextBox 4" id="4"/>
            <p:cNvSpPr txBox="true"/>
            <p:nvPr/>
          </p:nvSpPr>
          <p:spPr>
            <a:xfrm>
              <a:off x="0" y="-19050"/>
              <a:ext cx="11704320" cy="1644650"/>
            </a:xfrm>
            <a:prstGeom prst="rect">
              <a:avLst/>
            </a:prstGeom>
          </p:spPr>
          <p:txBody>
            <a:bodyPr anchor="ctr" rtlCol="false" tIns="0" lIns="0" bIns="0" rIns="0"/>
            <a:lstStyle/>
            <a:p>
              <a:pPr algn="ctr">
                <a:lnSpc>
                  <a:spcPts val="4095"/>
                </a:lnSpc>
              </a:pPr>
              <a:r>
                <a:rPr lang="en-US" sz="3413" b="true">
                  <a:solidFill>
                    <a:srgbClr val="FF0000"/>
                  </a:solidFill>
                  <a:latin typeface="Times New Roman Bold"/>
                  <a:ea typeface="Times New Roman Bold"/>
                  <a:cs typeface="Times New Roman Bold"/>
                  <a:sym typeface="Times New Roman Bold"/>
                </a:rPr>
                <a:t>5.1 PERFORMANCE METRICS USED IN FFD</a:t>
              </a:r>
            </a:p>
          </p:txBody>
        </p:sp>
      </p:grpSp>
      <p:grpSp>
        <p:nvGrpSpPr>
          <p:cNvPr name="Group 5" id="5"/>
          <p:cNvGrpSpPr/>
          <p:nvPr/>
        </p:nvGrpSpPr>
        <p:grpSpPr>
          <a:xfrm rot="0">
            <a:off x="77953" y="1410433"/>
            <a:ext cx="9110015" cy="4876800"/>
            <a:chOff x="0" y="0"/>
            <a:chExt cx="12146686" cy="6502400"/>
          </a:xfrm>
        </p:grpSpPr>
        <p:sp>
          <p:nvSpPr>
            <p:cNvPr name="Freeform 6" id="6"/>
            <p:cNvSpPr/>
            <p:nvPr/>
          </p:nvSpPr>
          <p:spPr>
            <a:xfrm flipH="false" flipV="false" rot="0">
              <a:off x="0" y="0"/>
              <a:ext cx="12146661" cy="6502400"/>
            </a:xfrm>
            <a:custGeom>
              <a:avLst/>
              <a:gdLst/>
              <a:ahLst/>
              <a:cxnLst/>
              <a:rect r="r" b="b" t="t" l="l"/>
              <a:pathLst>
                <a:path h="6502400" w="12146661">
                  <a:moveTo>
                    <a:pt x="0" y="0"/>
                  </a:moveTo>
                  <a:lnTo>
                    <a:pt x="12146661" y="0"/>
                  </a:lnTo>
                  <a:lnTo>
                    <a:pt x="12146661" y="6502400"/>
                  </a:lnTo>
                  <a:lnTo>
                    <a:pt x="0" y="6502400"/>
                  </a:lnTo>
                  <a:lnTo>
                    <a:pt x="0" y="0"/>
                  </a:lnTo>
                  <a:close/>
                </a:path>
              </a:pathLst>
            </a:custGeom>
            <a:blipFill>
              <a:blip r:embed="rId3"/>
              <a:stretch>
                <a:fillRect l="0" t="0" r="0" b="0"/>
              </a:stretch>
            </a:blipFill>
          </p:spPr>
        </p:sp>
      </p:grpSp>
      <p:grpSp>
        <p:nvGrpSpPr>
          <p:cNvPr name="Group 7" id="7"/>
          <p:cNvGrpSpPr/>
          <p:nvPr/>
        </p:nvGrpSpPr>
        <p:grpSpPr>
          <a:xfrm rot="0">
            <a:off x="8859650" y="-8449"/>
            <a:ext cx="873604" cy="739969"/>
            <a:chOff x="0" y="0"/>
            <a:chExt cx="1164806" cy="986625"/>
          </a:xfrm>
        </p:grpSpPr>
        <p:sp>
          <p:nvSpPr>
            <p:cNvPr name="Freeform 8" id="8"/>
            <p:cNvSpPr/>
            <p:nvPr/>
          </p:nvSpPr>
          <p:spPr>
            <a:xfrm flipH="false" flipV="false" rot="0">
              <a:off x="0" y="0"/>
              <a:ext cx="1164844" cy="986663"/>
            </a:xfrm>
            <a:custGeom>
              <a:avLst/>
              <a:gdLst/>
              <a:ahLst/>
              <a:cxnLst/>
              <a:rect r="r" b="b" t="t" l="l"/>
              <a:pathLst>
                <a:path h="986663" w="1164844">
                  <a:moveTo>
                    <a:pt x="0" y="0"/>
                  </a:moveTo>
                  <a:lnTo>
                    <a:pt x="1164844" y="0"/>
                  </a:lnTo>
                  <a:lnTo>
                    <a:pt x="1164844" y="986663"/>
                  </a:lnTo>
                  <a:lnTo>
                    <a:pt x="0" y="986663"/>
                  </a:lnTo>
                  <a:lnTo>
                    <a:pt x="0" y="0"/>
                  </a:lnTo>
                  <a:close/>
                </a:path>
              </a:pathLst>
            </a:custGeom>
            <a:blipFill>
              <a:blip r:embed="rId4"/>
              <a:stretch>
                <a:fillRect l="0" t="-39" r="3" b="-37"/>
              </a:stretch>
            </a:blipFill>
          </p:spPr>
        </p:sp>
      </p:grpSp>
    </p:spTree>
  </p:cSld>
  <p:clrMapOvr>
    <a:masterClrMapping/>
  </p:clrMapOvr>
  <p:transition spd="fast">
    <p:fade/>
  </p:transition>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1392" y="189342"/>
            <a:ext cx="9357312" cy="1084355"/>
            <a:chOff x="0" y="0"/>
            <a:chExt cx="12476416" cy="1445807"/>
          </a:xfrm>
        </p:grpSpPr>
        <p:sp>
          <p:nvSpPr>
            <p:cNvPr name="Freeform 3" id="3"/>
            <p:cNvSpPr/>
            <p:nvPr/>
          </p:nvSpPr>
          <p:spPr>
            <a:xfrm flipH="false" flipV="false" rot="0">
              <a:off x="0" y="0"/>
              <a:ext cx="12476416" cy="1445811"/>
            </a:xfrm>
            <a:custGeom>
              <a:avLst/>
              <a:gdLst/>
              <a:ahLst/>
              <a:cxnLst/>
              <a:rect r="r" b="b" t="t" l="l"/>
              <a:pathLst>
                <a:path h="1445811" w="12476416">
                  <a:moveTo>
                    <a:pt x="0" y="0"/>
                  </a:moveTo>
                  <a:lnTo>
                    <a:pt x="12476416" y="0"/>
                  </a:lnTo>
                  <a:lnTo>
                    <a:pt x="12476416" y="1445811"/>
                  </a:lnTo>
                  <a:lnTo>
                    <a:pt x="0" y="1445811"/>
                  </a:lnTo>
                  <a:close/>
                </a:path>
              </a:pathLst>
            </a:custGeom>
            <a:blipFill>
              <a:blip r:embed="rId2">
                <a:alphaModFix amt="0"/>
              </a:blip>
              <a:stretch>
                <a:fillRect l="0" t="-135971" r="0" b="-100315"/>
              </a:stretch>
            </a:blipFill>
          </p:spPr>
        </p:sp>
        <p:sp>
          <p:nvSpPr>
            <p:cNvPr name="TextBox 4" id="4"/>
            <p:cNvSpPr txBox="true"/>
            <p:nvPr/>
          </p:nvSpPr>
          <p:spPr>
            <a:xfrm>
              <a:off x="0" y="-28575"/>
              <a:ext cx="12476416" cy="1474382"/>
            </a:xfrm>
            <a:prstGeom prst="rect">
              <a:avLst/>
            </a:prstGeom>
          </p:spPr>
          <p:txBody>
            <a:bodyPr anchor="ctr" rtlCol="false" tIns="0" lIns="0" bIns="0" rIns="0"/>
            <a:lstStyle/>
            <a:p>
              <a:pPr algn="ctr">
                <a:lnSpc>
                  <a:spcPts val="3719"/>
                </a:lnSpc>
              </a:pPr>
              <a:r>
                <a:rPr lang="en-US" sz="3099" b="true">
                  <a:solidFill>
                    <a:srgbClr val="FF0000"/>
                  </a:solidFill>
                  <a:latin typeface="Times New Roman Bold"/>
                  <a:ea typeface="Times New Roman Bold"/>
                  <a:cs typeface="Times New Roman Bold"/>
                  <a:sym typeface="Times New Roman Bold"/>
                </a:rPr>
                <a:t>5.1 PERFORMANCE METRICS USED IN FFD (Cont...)</a:t>
              </a:r>
            </a:p>
          </p:txBody>
        </p:sp>
      </p:grpSp>
      <p:grpSp>
        <p:nvGrpSpPr>
          <p:cNvPr name="Group 5" id="5"/>
          <p:cNvGrpSpPr/>
          <p:nvPr/>
        </p:nvGrpSpPr>
        <p:grpSpPr>
          <a:xfrm rot="0">
            <a:off x="609790" y="2604668"/>
            <a:ext cx="9296257" cy="1075973"/>
            <a:chOff x="0" y="0"/>
            <a:chExt cx="12395010" cy="1434630"/>
          </a:xfrm>
        </p:grpSpPr>
        <p:sp>
          <p:nvSpPr>
            <p:cNvPr name="Freeform 6" id="6"/>
            <p:cNvSpPr/>
            <p:nvPr/>
          </p:nvSpPr>
          <p:spPr>
            <a:xfrm flipH="false" flipV="false" rot="0">
              <a:off x="0" y="0"/>
              <a:ext cx="12394946" cy="1434592"/>
            </a:xfrm>
            <a:custGeom>
              <a:avLst/>
              <a:gdLst/>
              <a:ahLst/>
              <a:cxnLst/>
              <a:rect r="r" b="b" t="t" l="l"/>
              <a:pathLst>
                <a:path h="1434592" w="12394946">
                  <a:moveTo>
                    <a:pt x="0" y="0"/>
                  </a:moveTo>
                  <a:lnTo>
                    <a:pt x="12394946" y="0"/>
                  </a:lnTo>
                  <a:lnTo>
                    <a:pt x="12394946" y="1434592"/>
                  </a:lnTo>
                  <a:lnTo>
                    <a:pt x="0" y="1434592"/>
                  </a:lnTo>
                  <a:close/>
                </a:path>
              </a:pathLst>
            </a:custGeom>
            <a:solidFill>
              <a:srgbClr val="FFFFFF"/>
            </a:solidFill>
          </p:spPr>
        </p:sp>
        <p:sp>
          <p:nvSpPr>
            <p:cNvPr name="TextBox 7" id="7"/>
            <p:cNvSpPr txBox="true"/>
            <p:nvPr/>
          </p:nvSpPr>
          <p:spPr>
            <a:xfrm>
              <a:off x="0" y="-9525"/>
              <a:ext cx="12395010" cy="1444155"/>
            </a:xfrm>
            <a:prstGeom prst="rect">
              <a:avLst/>
            </a:prstGeom>
          </p:spPr>
          <p:txBody>
            <a:bodyPr anchor="ctr" rtlCol="false" tIns="50800" lIns="50800" bIns="50800" rIns="50800"/>
            <a:lstStyle/>
            <a:p>
              <a:pPr algn="just">
                <a:lnSpc>
                  <a:spcPts val="2560"/>
                </a:lnSpc>
              </a:pPr>
              <a:r>
                <a:rPr lang="en-US" sz="2133">
                  <a:solidFill>
                    <a:srgbClr val="000000"/>
                  </a:solidFill>
                  <a:latin typeface="Times New Roman"/>
                  <a:ea typeface="Times New Roman"/>
                  <a:cs typeface="Times New Roman"/>
                  <a:sym typeface="Times New Roman"/>
                </a:rPr>
                <a:t>          </a:t>
              </a:r>
            </a:p>
            <a:p>
              <a:pPr algn="just">
                <a:lnSpc>
                  <a:spcPts val="2560"/>
                </a:lnSpc>
              </a:pPr>
            </a:p>
            <a:p>
              <a:pPr algn="just">
                <a:lnSpc>
                  <a:spcPts val="2560"/>
                </a:lnSpc>
              </a:pPr>
            </a:p>
          </p:txBody>
        </p:sp>
      </p:grpSp>
      <p:grpSp>
        <p:nvGrpSpPr>
          <p:cNvPr name="Group 8" id="8"/>
          <p:cNvGrpSpPr/>
          <p:nvPr/>
        </p:nvGrpSpPr>
        <p:grpSpPr>
          <a:xfrm rot="0">
            <a:off x="8859650" y="-8449"/>
            <a:ext cx="873604" cy="739969"/>
            <a:chOff x="0" y="0"/>
            <a:chExt cx="1164806" cy="986625"/>
          </a:xfrm>
        </p:grpSpPr>
        <p:sp>
          <p:nvSpPr>
            <p:cNvPr name="Freeform 9" id="9"/>
            <p:cNvSpPr/>
            <p:nvPr/>
          </p:nvSpPr>
          <p:spPr>
            <a:xfrm flipH="false" flipV="false" rot="0">
              <a:off x="0" y="0"/>
              <a:ext cx="1164844" cy="986663"/>
            </a:xfrm>
            <a:custGeom>
              <a:avLst/>
              <a:gdLst/>
              <a:ahLst/>
              <a:cxnLst/>
              <a:rect r="r" b="b" t="t" l="l"/>
              <a:pathLst>
                <a:path h="986663" w="1164844">
                  <a:moveTo>
                    <a:pt x="0" y="0"/>
                  </a:moveTo>
                  <a:lnTo>
                    <a:pt x="1164844" y="0"/>
                  </a:lnTo>
                  <a:lnTo>
                    <a:pt x="1164844" y="986663"/>
                  </a:lnTo>
                  <a:lnTo>
                    <a:pt x="0" y="986663"/>
                  </a:lnTo>
                  <a:lnTo>
                    <a:pt x="0" y="0"/>
                  </a:lnTo>
                  <a:close/>
                </a:path>
              </a:pathLst>
            </a:custGeom>
            <a:blipFill>
              <a:blip r:embed="rId3"/>
              <a:stretch>
                <a:fillRect l="0" t="-39" r="3" b="-37"/>
              </a:stretch>
            </a:blipFill>
          </p:spPr>
        </p:sp>
      </p:grpSp>
      <p:grpSp>
        <p:nvGrpSpPr>
          <p:cNvPr name="Group 10" id="10"/>
          <p:cNvGrpSpPr/>
          <p:nvPr/>
        </p:nvGrpSpPr>
        <p:grpSpPr>
          <a:xfrm rot="0">
            <a:off x="0" y="736506"/>
            <a:ext cx="9753600" cy="6238465"/>
            <a:chOff x="0" y="0"/>
            <a:chExt cx="13004800" cy="8317954"/>
          </a:xfrm>
        </p:grpSpPr>
        <p:sp>
          <p:nvSpPr>
            <p:cNvPr name="Freeform 11" id="11" descr="A table with numbers and text  AI-generated content may be incorrect."/>
            <p:cNvSpPr/>
            <p:nvPr/>
          </p:nvSpPr>
          <p:spPr>
            <a:xfrm flipH="false" flipV="false" rot="0">
              <a:off x="0" y="0"/>
              <a:ext cx="13004800" cy="8317992"/>
            </a:xfrm>
            <a:custGeom>
              <a:avLst/>
              <a:gdLst/>
              <a:ahLst/>
              <a:cxnLst/>
              <a:rect r="r" b="b" t="t" l="l"/>
              <a:pathLst>
                <a:path h="8317992" w="13004800">
                  <a:moveTo>
                    <a:pt x="0" y="0"/>
                  </a:moveTo>
                  <a:lnTo>
                    <a:pt x="13004800" y="0"/>
                  </a:lnTo>
                  <a:lnTo>
                    <a:pt x="13004800" y="8317992"/>
                  </a:lnTo>
                  <a:lnTo>
                    <a:pt x="0" y="8317992"/>
                  </a:lnTo>
                  <a:lnTo>
                    <a:pt x="0" y="0"/>
                  </a:lnTo>
                  <a:close/>
                </a:path>
              </a:pathLst>
            </a:custGeom>
            <a:blipFill>
              <a:blip r:embed="rId4"/>
              <a:stretch>
                <a:fillRect l="0" t="-4" r="0" b="-4"/>
              </a:stretch>
            </a:blipFill>
          </p:spPr>
        </p:sp>
      </p:grpSp>
    </p:spTree>
  </p:cSld>
  <p:clrMapOvr>
    <a:masterClrMapping/>
  </p:clrMapOvr>
  <p:transition spd="fast">
    <p:fade/>
  </p:transition>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87680" y="6780286"/>
            <a:ext cx="2275970" cy="389372"/>
            <a:chOff x="0" y="0"/>
            <a:chExt cx="3034627" cy="519163"/>
          </a:xfrm>
        </p:grpSpPr>
        <p:sp>
          <p:nvSpPr>
            <p:cNvPr name="Freeform 3" id="3"/>
            <p:cNvSpPr/>
            <p:nvPr/>
          </p:nvSpPr>
          <p:spPr>
            <a:xfrm flipH="false" flipV="false" rot="0">
              <a:off x="0" y="0"/>
              <a:ext cx="3034624" cy="519168"/>
            </a:xfrm>
            <a:custGeom>
              <a:avLst/>
              <a:gdLst/>
              <a:ahLst/>
              <a:cxnLst/>
              <a:rect r="r" b="b" t="t" l="l"/>
              <a:pathLst>
                <a:path h="519168" w="3034624">
                  <a:moveTo>
                    <a:pt x="0" y="0"/>
                  </a:moveTo>
                  <a:lnTo>
                    <a:pt x="3034624" y="0"/>
                  </a:lnTo>
                  <a:lnTo>
                    <a:pt x="3034624" y="519168"/>
                  </a:lnTo>
                  <a:lnTo>
                    <a:pt x="0" y="519168"/>
                  </a:lnTo>
                  <a:close/>
                </a:path>
              </a:pathLst>
            </a:custGeom>
            <a:blipFill>
              <a:blip r:embed="rId2">
                <a:alphaModFix amt="0"/>
              </a:blip>
              <a:stretch>
                <a:fillRect l="0" t="-63893" r="0" b="-63892"/>
              </a:stretch>
            </a:blipFill>
          </p:spPr>
        </p:sp>
        <p:sp>
          <p:nvSpPr>
            <p:cNvPr name="TextBox 4" id="4"/>
            <p:cNvSpPr txBox="true"/>
            <p:nvPr/>
          </p:nvSpPr>
          <p:spPr>
            <a:xfrm>
              <a:off x="0" y="-28575"/>
              <a:ext cx="3034627" cy="547738"/>
            </a:xfrm>
            <a:prstGeom prst="rect">
              <a:avLst/>
            </a:prstGeom>
          </p:spPr>
          <p:txBody>
            <a:bodyPr anchor="ctr" rtlCol="false" tIns="0" lIns="0" bIns="0" rIns="0"/>
            <a:lstStyle/>
            <a:p>
              <a:pPr algn="l">
                <a:lnSpc>
                  <a:spcPts val="1535"/>
                </a:lnSpc>
              </a:pPr>
              <a:r>
                <a:rPr lang="en-US" sz="1279">
                  <a:solidFill>
                    <a:srgbClr val="898989"/>
                  </a:solidFill>
                  <a:latin typeface="Calibri (MS)"/>
                  <a:ea typeface="Calibri (MS)"/>
                  <a:cs typeface="Calibri (MS)"/>
                  <a:sym typeface="Calibri (MS)"/>
                </a:rPr>
                <a:t>Jul 22, 2026</a:t>
              </a:r>
            </a:p>
          </p:txBody>
        </p:sp>
      </p:grpSp>
      <p:grpSp>
        <p:nvGrpSpPr>
          <p:cNvPr name="Group 5" id="5"/>
          <p:cNvGrpSpPr/>
          <p:nvPr/>
        </p:nvGrpSpPr>
        <p:grpSpPr>
          <a:xfrm rot="0">
            <a:off x="3332350" y="6780286"/>
            <a:ext cx="3088900" cy="389372"/>
            <a:chOff x="0" y="0"/>
            <a:chExt cx="4118534" cy="519163"/>
          </a:xfrm>
        </p:grpSpPr>
        <p:sp>
          <p:nvSpPr>
            <p:cNvPr name="Freeform 6" id="6"/>
            <p:cNvSpPr/>
            <p:nvPr/>
          </p:nvSpPr>
          <p:spPr>
            <a:xfrm flipH="false" flipV="false" rot="0">
              <a:off x="0" y="0"/>
              <a:ext cx="4118528" cy="519168"/>
            </a:xfrm>
            <a:custGeom>
              <a:avLst/>
              <a:gdLst/>
              <a:ahLst/>
              <a:cxnLst/>
              <a:rect r="r" b="b" t="t" l="l"/>
              <a:pathLst>
                <a:path h="519168" w="4118528">
                  <a:moveTo>
                    <a:pt x="0" y="0"/>
                  </a:moveTo>
                  <a:lnTo>
                    <a:pt x="4118528" y="0"/>
                  </a:lnTo>
                  <a:lnTo>
                    <a:pt x="4118528" y="519168"/>
                  </a:lnTo>
                  <a:lnTo>
                    <a:pt x="0" y="519168"/>
                  </a:lnTo>
                  <a:close/>
                </a:path>
              </a:pathLst>
            </a:custGeom>
            <a:blipFill>
              <a:blip r:embed="rId2">
                <a:alphaModFix amt="0"/>
              </a:blip>
              <a:stretch>
                <a:fillRect l="0" t="-104574" r="0" b="-104573"/>
              </a:stretch>
            </a:blipFill>
          </p:spPr>
        </p:sp>
        <p:sp>
          <p:nvSpPr>
            <p:cNvPr name="TextBox 7" id="7"/>
            <p:cNvSpPr txBox="true"/>
            <p:nvPr/>
          </p:nvSpPr>
          <p:spPr>
            <a:xfrm>
              <a:off x="0" y="-28575"/>
              <a:ext cx="4118534" cy="547738"/>
            </a:xfrm>
            <a:prstGeom prst="rect">
              <a:avLst/>
            </a:prstGeom>
          </p:spPr>
          <p:txBody>
            <a:bodyPr anchor="ctr" rtlCol="false" tIns="0" lIns="0" bIns="0" rIns="0"/>
            <a:lstStyle/>
            <a:p>
              <a:pPr algn="ctr">
                <a:lnSpc>
                  <a:spcPts val="1535"/>
                </a:lnSpc>
              </a:pPr>
              <a:r>
                <a:rPr lang="en-US" sz="1279">
                  <a:solidFill>
                    <a:srgbClr val="898989"/>
                  </a:solidFill>
                  <a:latin typeface="Calibri (MS)"/>
                  <a:ea typeface="Calibri (MS)"/>
                  <a:cs typeface="Calibri (MS)"/>
                  <a:sym typeface="Calibri (MS)"/>
                </a:rPr>
                <a:t>Face Forgery Detection Using DL</a:t>
              </a:r>
            </a:p>
          </p:txBody>
        </p:sp>
      </p:grpSp>
      <p:grpSp>
        <p:nvGrpSpPr>
          <p:cNvPr name="Group 8" id="8"/>
          <p:cNvGrpSpPr/>
          <p:nvPr/>
        </p:nvGrpSpPr>
        <p:grpSpPr>
          <a:xfrm rot="0">
            <a:off x="6989950" y="6780286"/>
            <a:ext cx="2275970" cy="389372"/>
            <a:chOff x="0" y="0"/>
            <a:chExt cx="3034627" cy="519163"/>
          </a:xfrm>
        </p:grpSpPr>
        <p:sp>
          <p:nvSpPr>
            <p:cNvPr name="Freeform 9" id="9"/>
            <p:cNvSpPr/>
            <p:nvPr/>
          </p:nvSpPr>
          <p:spPr>
            <a:xfrm flipH="false" flipV="false" rot="0">
              <a:off x="0" y="0"/>
              <a:ext cx="3034624" cy="519168"/>
            </a:xfrm>
            <a:custGeom>
              <a:avLst/>
              <a:gdLst/>
              <a:ahLst/>
              <a:cxnLst/>
              <a:rect r="r" b="b" t="t" l="l"/>
              <a:pathLst>
                <a:path h="519168" w="3034624">
                  <a:moveTo>
                    <a:pt x="0" y="0"/>
                  </a:moveTo>
                  <a:lnTo>
                    <a:pt x="3034624" y="0"/>
                  </a:lnTo>
                  <a:lnTo>
                    <a:pt x="3034624" y="519168"/>
                  </a:lnTo>
                  <a:lnTo>
                    <a:pt x="0" y="519168"/>
                  </a:lnTo>
                  <a:close/>
                </a:path>
              </a:pathLst>
            </a:custGeom>
            <a:blipFill>
              <a:blip r:embed="rId2">
                <a:alphaModFix amt="0"/>
              </a:blip>
              <a:stretch>
                <a:fillRect l="0" t="-63893" r="0" b="-63892"/>
              </a:stretch>
            </a:blipFill>
          </p:spPr>
        </p:sp>
        <p:sp>
          <p:nvSpPr>
            <p:cNvPr name="TextBox 10" id="10"/>
            <p:cNvSpPr txBox="true"/>
            <p:nvPr/>
          </p:nvSpPr>
          <p:spPr>
            <a:xfrm>
              <a:off x="0" y="-28575"/>
              <a:ext cx="3034627" cy="547738"/>
            </a:xfrm>
            <a:prstGeom prst="rect">
              <a:avLst/>
            </a:prstGeom>
          </p:spPr>
          <p:txBody>
            <a:bodyPr anchor="ctr" rtlCol="false" tIns="0" lIns="0" bIns="0" rIns="0"/>
            <a:lstStyle/>
            <a:p>
              <a:pPr algn="r">
                <a:lnSpc>
                  <a:spcPts val="1535"/>
                </a:lnSpc>
              </a:pPr>
              <a:r>
                <a:rPr lang="en-US" sz="1279">
                  <a:solidFill>
                    <a:srgbClr val="898989"/>
                  </a:solidFill>
                  <a:latin typeface="Calibri (MS)"/>
                  <a:ea typeface="Calibri (MS)"/>
                  <a:cs typeface="Calibri (MS)"/>
                  <a:sym typeface="Calibri (MS)"/>
                </a:rPr>
                <a:t>&lt;number&gt;</a:t>
              </a:r>
            </a:p>
          </p:txBody>
        </p:sp>
      </p:grpSp>
      <p:grpSp>
        <p:nvGrpSpPr>
          <p:cNvPr name="Group 11" id="11"/>
          <p:cNvGrpSpPr/>
          <p:nvPr/>
        </p:nvGrpSpPr>
        <p:grpSpPr>
          <a:xfrm rot="0">
            <a:off x="487680" y="292608"/>
            <a:ext cx="8778240" cy="763772"/>
            <a:chOff x="0" y="0"/>
            <a:chExt cx="11704320" cy="1018362"/>
          </a:xfrm>
        </p:grpSpPr>
        <p:sp>
          <p:nvSpPr>
            <p:cNvPr name="Freeform 12" id="12"/>
            <p:cNvSpPr/>
            <p:nvPr/>
          </p:nvSpPr>
          <p:spPr>
            <a:xfrm flipH="false" flipV="false" rot="0">
              <a:off x="0" y="0"/>
              <a:ext cx="11704320" cy="1018368"/>
            </a:xfrm>
            <a:custGeom>
              <a:avLst/>
              <a:gdLst/>
              <a:ahLst/>
              <a:cxnLst/>
              <a:rect r="r" b="b" t="t" l="l"/>
              <a:pathLst>
                <a:path h="1018368" w="11704320">
                  <a:moveTo>
                    <a:pt x="0" y="0"/>
                  </a:moveTo>
                  <a:lnTo>
                    <a:pt x="11704320" y="0"/>
                  </a:lnTo>
                  <a:lnTo>
                    <a:pt x="11704320" y="1018368"/>
                  </a:lnTo>
                  <a:lnTo>
                    <a:pt x="0" y="1018368"/>
                  </a:lnTo>
                  <a:close/>
                </a:path>
              </a:pathLst>
            </a:custGeom>
            <a:blipFill>
              <a:blip r:embed="rId2">
                <a:alphaModFix amt="0"/>
              </a:blip>
              <a:stretch>
                <a:fillRect l="0" t="-173945" r="0" b="-173945"/>
              </a:stretch>
            </a:blipFill>
          </p:spPr>
        </p:sp>
        <p:sp>
          <p:nvSpPr>
            <p:cNvPr name="TextBox 13" id="13"/>
            <p:cNvSpPr txBox="true"/>
            <p:nvPr/>
          </p:nvSpPr>
          <p:spPr>
            <a:xfrm>
              <a:off x="0" y="-28575"/>
              <a:ext cx="11704320" cy="1046937"/>
            </a:xfrm>
            <a:prstGeom prst="rect">
              <a:avLst/>
            </a:prstGeom>
          </p:spPr>
          <p:txBody>
            <a:bodyPr anchor="ctr" rtlCol="false" tIns="0" lIns="0" bIns="0" rIns="0"/>
            <a:lstStyle/>
            <a:p>
              <a:pPr algn="ctr">
                <a:lnSpc>
                  <a:spcPts val="4608"/>
                </a:lnSpc>
              </a:pPr>
              <a:r>
                <a:rPr lang="en-US" sz="3840" b="true">
                  <a:solidFill>
                    <a:srgbClr val="FF0000"/>
                  </a:solidFill>
                  <a:latin typeface="Times New Roman Bold"/>
                  <a:ea typeface="Times New Roman Bold"/>
                  <a:cs typeface="Times New Roman Bold"/>
                  <a:sym typeface="Times New Roman Bold"/>
                </a:rPr>
                <a:t>Dataset Samples (Cont.…)</a:t>
              </a:r>
            </a:p>
          </p:txBody>
        </p:sp>
      </p:grpSp>
      <p:grpSp>
        <p:nvGrpSpPr>
          <p:cNvPr name="Group 14" id="14"/>
          <p:cNvGrpSpPr/>
          <p:nvPr/>
        </p:nvGrpSpPr>
        <p:grpSpPr>
          <a:xfrm rot="0">
            <a:off x="8859650" y="-8449"/>
            <a:ext cx="873604" cy="739969"/>
            <a:chOff x="0" y="0"/>
            <a:chExt cx="1164806" cy="986625"/>
          </a:xfrm>
        </p:grpSpPr>
        <p:sp>
          <p:nvSpPr>
            <p:cNvPr name="Freeform 15" id="15"/>
            <p:cNvSpPr/>
            <p:nvPr/>
          </p:nvSpPr>
          <p:spPr>
            <a:xfrm flipH="false" flipV="false" rot="0">
              <a:off x="0" y="0"/>
              <a:ext cx="1164844" cy="986663"/>
            </a:xfrm>
            <a:custGeom>
              <a:avLst/>
              <a:gdLst/>
              <a:ahLst/>
              <a:cxnLst/>
              <a:rect r="r" b="b" t="t" l="l"/>
              <a:pathLst>
                <a:path h="986663" w="1164844">
                  <a:moveTo>
                    <a:pt x="0" y="0"/>
                  </a:moveTo>
                  <a:lnTo>
                    <a:pt x="1164844" y="0"/>
                  </a:lnTo>
                  <a:lnTo>
                    <a:pt x="1164844" y="986663"/>
                  </a:lnTo>
                  <a:lnTo>
                    <a:pt x="0" y="986663"/>
                  </a:lnTo>
                  <a:lnTo>
                    <a:pt x="0" y="0"/>
                  </a:lnTo>
                  <a:close/>
                </a:path>
              </a:pathLst>
            </a:custGeom>
            <a:blipFill>
              <a:blip r:embed="rId3"/>
              <a:stretch>
                <a:fillRect l="0" t="-39" r="3" b="-37"/>
              </a:stretch>
            </a:blipFill>
          </p:spPr>
        </p:sp>
      </p:grpSp>
      <p:grpSp>
        <p:nvGrpSpPr>
          <p:cNvPr name="Group 16" id="16"/>
          <p:cNvGrpSpPr/>
          <p:nvPr/>
        </p:nvGrpSpPr>
        <p:grpSpPr>
          <a:xfrm rot="0">
            <a:off x="281092" y="1056770"/>
            <a:ext cx="8984828" cy="5990787"/>
            <a:chOff x="0" y="0"/>
            <a:chExt cx="11979770" cy="7987716"/>
          </a:xfrm>
        </p:grpSpPr>
        <p:sp>
          <p:nvSpPr>
            <p:cNvPr name="Freeform 17" id="17" descr="A screenshot of a computer  AI-generated content may be incorrect."/>
            <p:cNvSpPr/>
            <p:nvPr/>
          </p:nvSpPr>
          <p:spPr>
            <a:xfrm flipH="false" flipV="false" rot="0">
              <a:off x="0" y="0"/>
              <a:ext cx="11979783" cy="7987665"/>
            </a:xfrm>
            <a:custGeom>
              <a:avLst/>
              <a:gdLst/>
              <a:ahLst/>
              <a:cxnLst/>
              <a:rect r="r" b="b" t="t" l="l"/>
              <a:pathLst>
                <a:path h="7987665" w="11979783">
                  <a:moveTo>
                    <a:pt x="0" y="0"/>
                  </a:moveTo>
                  <a:lnTo>
                    <a:pt x="11979783" y="0"/>
                  </a:lnTo>
                  <a:lnTo>
                    <a:pt x="11979783" y="7987665"/>
                  </a:lnTo>
                  <a:lnTo>
                    <a:pt x="0" y="7987665"/>
                  </a:lnTo>
                  <a:lnTo>
                    <a:pt x="0" y="0"/>
                  </a:lnTo>
                  <a:close/>
                </a:path>
              </a:pathLst>
            </a:custGeom>
            <a:blipFill>
              <a:blip r:embed="rId4"/>
              <a:stretch>
                <a:fillRect l="-7" t="0" r="-7" b="0"/>
              </a:stretch>
            </a:blipFill>
          </p:spPr>
        </p:sp>
      </p:grpSp>
    </p:spTree>
  </p:cSld>
  <p:clrMapOvr>
    <a:masterClrMapping/>
  </p:clrMapOvr>
  <p:transition spd="fast">
    <p:fade/>
  </p:transition>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28385" y="361536"/>
            <a:ext cx="8778240" cy="1216025"/>
            <a:chOff x="0" y="0"/>
            <a:chExt cx="11704320" cy="1621367"/>
          </a:xfrm>
        </p:grpSpPr>
        <p:sp>
          <p:nvSpPr>
            <p:cNvPr name="Freeform 3" id="3"/>
            <p:cNvSpPr/>
            <p:nvPr/>
          </p:nvSpPr>
          <p:spPr>
            <a:xfrm flipH="false" flipV="false" rot="0">
              <a:off x="0" y="0"/>
              <a:ext cx="11704320" cy="1621361"/>
            </a:xfrm>
            <a:custGeom>
              <a:avLst/>
              <a:gdLst/>
              <a:ahLst/>
              <a:cxnLst/>
              <a:rect r="r" b="b" t="t" l="l"/>
              <a:pathLst>
                <a:path h="1621361" w="11704320">
                  <a:moveTo>
                    <a:pt x="0" y="0"/>
                  </a:moveTo>
                  <a:lnTo>
                    <a:pt x="11704320" y="0"/>
                  </a:lnTo>
                  <a:lnTo>
                    <a:pt x="11704320" y="1621361"/>
                  </a:lnTo>
                  <a:lnTo>
                    <a:pt x="0" y="1621361"/>
                  </a:lnTo>
                  <a:close/>
                </a:path>
              </a:pathLst>
            </a:custGeom>
            <a:blipFill>
              <a:blip r:embed="rId2">
                <a:alphaModFix amt="0"/>
              </a:blip>
              <a:stretch>
                <a:fillRect l="0" t="-102575" r="0" b="-78742"/>
              </a:stretch>
            </a:blipFill>
          </p:spPr>
        </p:sp>
        <p:sp>
          <p:nvSpPr>
            <p:cNvPr name="TextBox 4" id="4"/>
            <p:cNvSpPr txBox="true"/>
            <p:nvPr/>
          </p:nvSpPr>
          <p:spPr>
            <a:xfrm>
              <a:off x="0" y="-19050"/>
              <a:ext cx="11704320" cy="1640417"/>
            </a:xfrm>
            <a:prstGeom prst="rect">
              <a:avLst/>
            </a:prstGeom>
          </p:spPr>
          <p:txBody>
            <a:bodyPr anchor="ctr" rtlCol="false" tIns="0" lIns="0" bIns="0" rIns="0"/>
            <a:lstStyle/>
            <a:p>
              <a:pPr algn="ctr">
                <a:lnSpc>
                  <a:spcPts val="4095"/>
                </a:lnSpc>
              </a:pPr>
              <a:r>
                <a:rPr lang="en-US" sz="3413" b="true">
                  <a:solidFill>
                    <a:srgbClr val="FF0000"/>
                  </a:solidFill>
                  <a:latin typeface="Arial Bold"/>
                  <a:ea typeface="Arial Bold"/>
                  <a:cs typeface="Arial Bold"/>
                  <a:sym typeface="Arial Bold"/>
                </a:rPr>
                <a:t>6. Analysis Derived from the Survey</a:t>
              </a:r>
            </a:p>
            <a:p>
              <a:pPr algn="ctr">
                <a:lnSpc>
                  <a:spcPts val="4095"/>
                </a:lnSpc>
              </a:pPr>
            </a:p>
          </p:txBody>
        </p:sp>
      </p:grpSp>
      <p:grpSp>
        <p:nvGrpSpPr>
          <p:cNvPr name="Group 5" id="5"/>
          <p:cNvGrpSpPr/>
          <p:nvPr/>
        </p:nvGrpSpPr>
        <p:grpSpPr>
          <a:xfrm rot="0">
            <a:off x="8859650" y="-8449"/>
            <a:ext cx="873604" cy="739969"/>
            <a:chOff x="0" y="0"/>
            <a:chExt cx="1164806" cy="986625"/>
          </a:xfrm>
        </p:grpSpPr>
        <p:sp>
          <p:nvSpPr>
            <p:cNvPr name="Freeform 6" id="6"/>
            <p:cNvSpPr/>
            <p:nvPr/>
          </p:nvSpPr>
          <p:spPr>
            <a:xfrm flipH="false" flipV="false" rot="0">
              <a:off x="0" y="0"/>
              <a:ext cx="1164844" cy="986663"/>
            </a:xfrm>
            <a:custGeom>
              <a:avLst/>
              <a:gdLst/>
              <a:ahLst/>
              <a:cxnLst/>
              <a:rect r="r" b="b" t="t" l="l"/>
              <a:pathLst>
                <a:path h="986663" w="1164844">
                  <a:moveTo>
                    <a:pt x="0" y="0"/>
                  </a:moveTo>
                  <a:lnTo>
                    <a:pt x="1164844" y="0"/>
                  </a:lnTo>
                  <a:lnTo>
                    <a:pt x="1164844" y="986663"/>
                  </a:lnTo>
                  <a:lnTo>
                    <a:pt x="0" y="986663"/>
                  </a:lnTo>
                  <a:lnTo>
                    <a:pt x="0" y="0"/>
                  </a:lnTo>
                  <a:close/>
                </a:path>
              </a:pathLst>
            </a:custGeom>
            <a:blipFill>
              <a:blip r:embed="rId3"/>
              <a:stretch>
                <a:fillRect l="0" t="-39" r="3" b="-37"/>
              </a:stretch>
            </a:blipFill>
          </p:spPr>
        </p:sp>
      </p:grpSp>
      <p:grpSp>
        <p:nvGrpSpPr>
          <p:cNvPr name="Group 7" id="7"/>
          <p:cNvGrpSpPr/>
          <p:nvPr/>
        </p:nvGrpSpPr>
        <p:grpSpPr>
          <a:xfrm rot="0">
            <a:off x="325250" y="589055"/>
            <a:ext cx="9184510" cy="6277632"/>
            <a:chOff x="0" y="0"/>
            <a:chExt cx="12246013" cy="8370176"/>
          </a:xfrm>
        </p:grpSpPr>
        <p:sp>
          <p:nvSpPr>
            <p:cNvPr name="Freeform 8" id="8"/>
            <p:cNvSpPr/>
            <p:nvPr/>
          </p:nvSpPr>
          <p:spPr>
            <a:xfrm flipH="false" flipV="false" rot="0">
              <a:off x="0" y="0"/>
              <a:ext cx="12246016" cy="8370176"/>
            </a:xfrm>
            <a:custGeom>
              <a:avLst/>
              <a:gdLst/>
              <a:ahLst/>
              <a:cxnLst/>
              <a:rect r="r" b="b" t="t" l="l"/>
              <a:pathLst>
                <a:path h="8370176" w="12246016">
                  <a:moveTo>
                    <a:pt x="0" y="0"/>
                  </a:moveTo>
                  <a:lnTo>
                    <a:pt x="12246016" y="0"/>
                  </a:lnTo>
                  <a:lnTo>
                    <a:pt x="12246016" y="8370176"/>
                  </a:lnTo>
                  <a:lnTo>
                    <a:pt x="0" y="8370176"/>
                  </a:lnTo>
                  <a:close/>
                </a:path>
              </a:pathLst>
            </a:custGeom>
            <a:blipFill>
              <a:blip r:embed="rId2">
                <a:alphaModFix amt="0"/>
              </a:blip>
              <a:stretch>
                <a:fillRect l="-37695" t="0" r="-37695" b="0"/>
              </a:stretch>
            </a:blipFill>
          </p:spPr>
        </p:sp>
        <p:sp>
          <p:nvSpPr>
            <p:cNvPr name="TextBox 9" id="9"/>
            <p:cNvSpPr txBox="true"/>
            <p:nvPr/>
          </p:nvSpPr>
          <p:spPr>
            <a:xfrm>
              <a:off x="0" y="9525"/>
              <a:ext cx="12246013" cy="8360651"/>
            </a:xfrm>
            <a:prstGeom prst="rect">
              <a:avLst/>
            </a:prstGeom>
          </p:spPr>
          <p:txBody>
            <a:bodyPr anchor="ctr" rtlCol="false" tIns="0" lIns="0" bIns="0" rIns="0"/>
            <a:lstStyle/>
            <a:p>
              <a:pPr algn="just">
                <a:lnSpc>
                  <a:spcPts val="2131"/>
                </a:lnSpc>
              </a:pPr>
              <a:r>
                <a:rPr lang="en-US" sz="1973">
                  <a:solidFill>
                    <a:srgbClr val="000000"/>
                  </a:solidFill>
                  <a:latin typeface="Arial"/>
                  <a:ea typeface="Arial"/>
                  <a:cs typeface="Arial"/>
                  <a:sym typeface="Arial"/>
                </a:rPr>
                <a:t>The literature survey indicates that existing emergency response systems primarily rely on </a:t>
              </a:r>
              <a:r>
                <a:rPr lang="en-US" sz="1973" b="true">
                  <a:solidFill>
                    <a:srgbClr val="000000"/>
                  </a:solidFill>
                  <a:latin typeface="Arial Bold"/>
                  <a:ea typeface="Arial Bold"/>
                  <a:cs typeface="Arial Bold"/>
                  <a:sym typeface="Arial Bold"/>
                </a:rPr>
                <a:t>single-modal data</a:t>
              </a:r>
              <a:r>
                <a:rPr lang="en-US" sz="1973">
                  <a:solidFill>
                    <a:srgbClr val="000000"/>
                  </a:solidFill>
                  <a:latin typeface="Arial"/>
                  <a:ea typeface="Arial"/>
                  <a:cs typeface="Arial"/>
                  <a:sym typeface="Arial"/>
                </a:rPr>
                <a:t>, such as images, text, or sensor readings, which limits their ability to capture the complete context of an emergency. Although deep learning models have achieved high accuracy in specific tasks, they often face challenges in handling heterogeneous data, ensuring real-time processing, and maintaining low latency in resource-constrained environments. Most existing systems also depend heavily on cloud-based processing, resulting in increased communication delays during time-critical emergencies. Furthermore, limited integration of </a:t>
              </a:r>
              <a:r>
                <a:rPr lang="en-US" sz="1973" b="true">
                  <a:solidFill>
                    <a:srgbClr val="000000"/>
                  </a:solidFill>
                  <a:latin typeface="Arial Bold"/>
                  <a:ea typeface="Arial Bold"/>
                  <a:cs typeface="Arial Bold"/>
                  <a:sym typeface="Arial Bold"/>
                </a:rPr>
                <a:t>GIS, temporal information, and IoT sensor data</a:t>
              </a:r>
              <a:r>
                <a:rPr lang="en-US" sz="1973">
                  <a:solidFill>
                    <a:srgbClr val="000000"/>
                  </a:solidFill>
                  <a:latin typeface="Arial"/>
                  <a:ea typeface="Arial"/>
                  <a:cs typeface="Arial"/>
                  <a:sym typeface="Arial"/>
                </a:rPr>
                <a:t> reduces the effectiveness of incident prioritization and resource allocation.</a:t>
              </a:r>
            </a:p>
            <a:p>
              <a:pPr algn="just">
                <a:lnSpc>
                  <a:spcPts val="2131"/>
                </a:lnSpc>
              </a:pPr>
              <a:r>
                <a:rPr lang="en-US" sz="1973">
                  <a:solidFill>
                    <a:srgbClr val="000000"/>
                  </a:solidFill>
                  <a:latin typeface="Arial"/>
                  <a:ea typeface="Arial"/>
                  <a:cs typeface="Arial"/>
                  <a:sym typeface="Arial"/>
                </a:rPr>
                <a:t>To address these limitations, the proposed framework integrates </a:t>
              </a:r>
              <a:r>
                <a:rPr lang="en-US" sz="1973" b="true">
                  <a:solidFill>
                    <a:srgbClr val="000000"/>
                  </a:solidFill>
                  <a:latin typeface="Arial Bold"/>
                  <a:ea typeface="Arial Bold"/>
                  <a:cs typeface="Arial Bold"/>
                  <a:sym typeface="Arial Bold"/>
                </a:rPr>
                <a:t>Vision Transformer (ViT)</a:t>
              </a:r>
              <a:r>
                <a:rPr lang="en-US" sz="1973">
                  <a:solidFill>
                    <a:srgbClr val="000000"/>
                  </a:solidFill>
                  <a:latin typeface="Arial"/>
                  <a:ea typeface="Arial"/>
                  <a:cs typeface="Arial"/>
                  <a:sym typeface="Arial"/>
                </a:rPr>
                <a:t> for incident classification, </a:t>
              </a:r>
              <a:r>
                <a:rPr lang="en-US" sz="1973" b="true">
                  <a:solidFill>
                    <a:srgbClr val="000000"/>
                  </a:solidFill>
                  <a:latin typeface="Arial Bold"/>
                  <a:ea typeface="Arial Bold"/>
                  <a:cs typeface="Arial Bold"/>
                  <a:sym typeface="Arial Bold"/>
                </a:rPr>
                <a:t>CNN</a:t>
              </a:r>
              <a:r>
                <a:rPr lang="en-US" sz="1973">
                  <a:solidFill>
                    <a:srgbClr val="000000"/>
                  </a:solidFill>
                  <a:latin typeface="Arial"/>
                  <a:ea typeface="Arial"/>
                  <a:cs typeface="Arial"/>
                  <a:sym typeface="Arial"/>
                </a:rPr>
                <a:t> for damage and severity assessment, </a:t>
              </a:r>
              <a:r>
                <a:rPr lang="en-US" sz="1973" b="true">
                  <a:solidFill>
                    <a:srgbClr val="000000"/>
                  </a:solidFill>
                  <a:latin typeface="Arial Bold"/>
                  <a:ea typeface="Arial Bold"/>
                  <a:cs typeface="Arial Bold"/>
                  <a:sym typeface="Arial Bold"/>
                </a:rPr>
                <a:t>DistilBERT</a:t>
              </a:r>
              <a:r>
                <a:rPr lang="en-US" sz="1973">
                  <a:solidFill>
                    <a:srgbClr val="000000"/>
                  </a:solidFill>
                  <a:latin typeface="Arial"/>
                  <a:ea typeface="Arial"/>
                  <a:cs typeface="Arial"/>
                  <a:sym typeface="Arial"/>
                </a:rPr>
                <a:t> for emergency text analysis, and </a:t>
              </a:r>
              <a:r>
                <a:rPr lang="en-US" sz="1973" b="true">
                  <a:solidFill>
                    <a:srgbClr val="000000"/>
                  </a:solidFill>
                  <a:latin typeface="Arial Bold"/>
                  <a:ea typeface="Arial Bold"/>
                  <a:cs typeface="Arial Bold"/>
                  <a:sym typeface="Arial Bold"/>
                </a:rPr>
                <a:t>Random Forest</a:t>
              </a:r>
              <a:r>
                <a:rPr lang="en-US" sz="1973">
                  <a:solidFill>
                    <a:srgbClr val="000000"/>
                  </a:solidFill>
                  <a:latin typeface="Arial"/>
                  <a:ea typeface="Arial"/>
                  <a:cs typeface="Arial"/>
                  <a:sym typeface="Arial"/>
                </a:rPr>
                <a:t> for final priority classification. By combining multimodal data with edge computing, the system enhances situational awareness, improves classification accuracy, reduces response latency, and enables efficient, context-aware emergency triage for smart city disaster management.</a:t>
              </a:r>
            </a:p>
          </p:txBody>
        </p:sp>
      </p:grpSp>
    </p:spTree>
  </p:cSld>
  <p:clrMapOvr>
    <a:masterClrMapping/>
  </p:clrMapOvr>
  <p:transition spd="fast">
    <p:fade/>
  </p:transition>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497710" y="1548003"/>
            <a:ext cx="8676770" cy="5428097"/>
          </a:xfrm>
          <a:prstGeom prst="rect">
            <a:avLst/>
          </a:prstGeom>
        </p:spPr>
        <p:txBody>
          <a:bodyPr anchor="t" rtlCol="false" tIns="0" lIns="0" bIns="0" rIns="0">
            <a:spAutoFit/>
          </a:bodyPr>
          <a:lstStyle/>
          <a:p>
            <a:pPr algn="l">
              <a:lnSpc>
                <a:spcPts val="2188"/>
              </a:lnSpc>
            </a:pPr>
            <a:r>
              <a:rPr lang="en-US" sz="2026">
                <a:solidFill>
                  <a:srgbClr val="000000"/>
                </a:solidFill>
                <a:latin typeface="Calibri (MS)"/>
                <a:ea typeface="Calibri (MS)"/>
                <a:cs typeface="Calibri (MS)"/>
                <a:sym typeface="Calibri (MS)"/>
              </a:rPr>
              <a:t>1.Al-Mohannadi, A., Firoz, A., Yang, Y., Imran, M., &amp; Offli, F. (2026). DisasterVQA: A Visual Question Answering benchmark dataset for disaster scenes. Proceedings of the International AAAI Conference on Web and Social Media (ICWSM), 2711–2722</a:t>
            </a:r>
          </a:p>
          <a:p>
            <a:pPr algn="l">
              <a:lnSpc>
                <a:spcPts val="2188"/>
              </a:lnSpc>
            </a:pPr>
          </a:p>
          <a:p>
            <a:pPr algn="l">
              <a:lnSpc>
                <a:spcPts val="2188"/>
              </a:lnSpc>
            </a:pPr>
            <a:r>
              <a:rPr lang="en-US" sz="2026">
                <a:solidFill>
                  <a:srgbClr val="000000"/>
                </a:solidFill>
                <a:latin typeface="Calibri (MS)"/>
                <a:ea typeface="Calibri (MS)"/>
                <a:cs typeface="Calibri (MS)"/>
                <a:sym typeface="Calibri (MS)"/>
              </a:rPr>
              <a:t>2. Bhoi, A., Bhuyan, H. B. G. S., Nayak, R. P., Balabantaray, R. C., Pattanaik, A., &amp; Chinmay, A. (2025). Smart crisis response leveraging social media content for effective disaster management. Discover Computing, 28(263), 1–25</a:t>
            </a:r>
          </a:p>
          <a:p>
            <a:pPr algn="l">
              <a:lnSpc>
                <a:spcPts val="2188"/>
              </a:lnSpc>
            </a:pPr>
          </a:p>
          <a:p>
            <a:pPr algn="l">
              <a:lnSpc>
                <a:spcPts val="2188"/>
              </a:lnSpc>
            </a:pPr>
            <a:r>
              <a:rPr lang="en-US" sz="2026">
                <a:solidFill>
                  <a:srgbClr val="000000"/>
                </a:solidFill>
                <a:latin typeface="Calibri (MS)"/>
                <a:ea typeface="Calibri (MS)"/>
                <a:cs typeface="Calibri (MS)"/>
                <a:sym typeface="Calibri (MS)"/>
              </a:rPr>
              <a:t>3. Chang, B.-A., &amp; Chen, Y.-C. (2026). Debiasing text-to-image evaluation via implicit cultural alignment reward modeling. arXiv preprint arXiv</a:t>
            </a:r>
          </a:p>
          <a:p>
            <a:pPr algn="l">
              <a:lnSpc>
                <a:spcPts val="2188"/>
              </a:lnSpc>
            </a:pPr>
          </a:p>
          <a:p>
            <a:pPr algn="l">
              <a:lnSpc>
                <a:spcPts val="2188"/>
              </a:lnSpc>
            </a:pPr>
            <a:r>
              <a:rPr lang="en-US" sz="2026">
                <a:solidFill>
                  <a:srgbClr val="000000"/>
                </a:solidFill>
                <a:latin typeface="Calibri (MS)"/>
                <a:ea typeface="Calibri (MS)"/>
                <a:cs typeface="Calibri (MS)"/>
                <a:sym typeface="Calibri (MS)"/>
              </a:rPr>
              <a:t>4. Do, P. P., Tat, C. M., &amp; Wang, C. (2026). Benchmarking multimodal large language models for scientific visualization literacy. arXiv preprint arXi</a:t>
            </a:r>
          </a:p>
          <a:p>
            <a:pPr algn="l">
              <a:lnSpc>
                <a:spcPts val="2188"/>
              </a:lnSpc>
            </a:pPr>
          </a:p>
          <a:p>
            <a:pPr algn="l">
              <a:lnSpc>
                <a:spcPts val="2188"/>
              </a:lnSpc>
            </a:pPr>
            <a:r>
              <a:rPr lang="en-US" sz="2026">
                <a:solidFill>
                  <a:srgbClr val="000000"/>
                </a:solidFill>
                <a:latin typeface="Calibri (MS)"/>
                <a:ea typeface="Calibri (MS)"/>
                <a:cs typeface="Calibri (MS)"/>
                <a:sym typeface="Calibri (MS)"/>
              </a:rPr>
              <a:t>5. Khan, L., Wu, H.-M., Lin, W., Bi, F., Abdelhadi, Y., &amp; Jung, J. (2026). Ensemble deep learning approaches for AI-altered video detection. arXiv preprint arXiv</a:t>
            </a:r>
          </a:p>
        </p:txBody>
      </p:sp>
      <p:grpSp>
        <p:nvGrpSpPr>
          <p:cNvPr name="Group 3" id="3"/>
          <p:cNvGrpSpPr/>
          <p:nvPr/>
        </p:nvGrpSpPr>
        <p:grpSpPr>
          <a:xfrm rot="0">
            <a:off x="487680" y="292608"/>
            <a:ext cx="8778240" cy="1219200"/>
            <a:chOff x="0" y="0"/>
            <a:chExt cx="11704320" cy="1625600"/>
          </a:xfrm>
        </p:grpSpPr>
        <p:sp>
          <p:nvSpPr>
            <p:cNvPr name="Freeform 4" id="4"/>
            <p:cNvSpPr/>
            <p:nvPr/>
          </p:nvSpPr>
          <p:spPr>
            <a:xfrm flipH="false" flipV="false" rot="0">
              <a:off x="0" y="0"/>
              <a:ext cx="11704320" cy="1625600"/>
            </a:xfrm>
            <a:custGeom>
              <a:avLst/>
              <a:gdLst/>
              <a:ahLst/>
              <a:cxnLst/>
              <a:rect r="r" b="b" t="t" l="l"/>
              <a:pathLst>
                <a:path h="1625600" w="11704320">
                  <a:moveTo>
                    <a:pt x="0" y="0"/>
                  </a:moveTo>
                  <a:lnTo>
                    <a:pt x="11704320" y="0"/>
                  </a:lnTo>
                  <a:lnTo>
                    <a:pt x="11704320" y="1625600"/>
                  </a:lnTo>
                  <a:lnTo>
                    <a:pt x="0" y="1625600"/>
                  </a:lnTo>
                  <a:close/>
                </a:path>
              </a:pathLst>
            </a:custGeom>
            <a:blipFill>
              <a:blip r:embed="rId2">
                <a:alphaModFix amt="0"/>
              </a:blip>
              <a:stretch>
                <a:fillRect l="0" t="-90292" r="0" b="-90292"/>
              </a:stretch>
            </a:blipFill>
          </p:spPr>
        </p:sp>
        <p:sp>
          <p:nvSpPr>
            <p:cNvPr name="TextBox 5" id="5"/>
            <p:cNvSpPr txBox="true"/>
            <p:nvPr/>
          </p:nvSpPr>
          <p:spPr>
            <a:xfrm>
              <a:off x="0" y="-28575"/>
              <a:ext cx="11704320" cy="1654175"/>
            </a:xfrm>
            <a:prstGeom prst="rect">
              <a:avLst/>
            </a:prstGeom>
          </p:spPr>
          <p:txBody>
            <a:bodyPr anchor="ctr" rtlCol="false" tIns="0" lIns="0" bIns="0" rIns="0"/>
            <a:lstStyle/>
            <a:p>
              <a:pPr algn="ctr">
                <a:lnSpc>
                  <a:spcPts val="5631"/>
                </a:lnSpc>
              </a:pPr>
              <a:r>
                <a:rPr lang="en-US" sz="4693" b="true">
                  <a:solidFill>
                    <a:srgbClr val="FF0000"/>
                  </a:solidFill>
                  <a:latin typeface="Times New Roman Bold"/>
                  <a:ea typeface="Times New Roman Bold"/>
                  <a:cs typeface="Times New Roman Bold"/>
                  <a:sym typeface="Times New Roman Bold"/>
                </a:rPr>
                <a:t>References</a:t>
              </a:r>
            </a:p>
          </p:txBody>
        </p:sp>
      </p:grpSp>
      <p:grpSp>
        <p:nvGrpSpPr>
          <p:cNvPr name="Group 6" id="6"/>
          <p:cNvGrpSpPr/>
          <p:nvPr/>
        </p:nvGrpSpPr>
        <p:grpSpPr>
          <a:xfrm rot="0">
            <a:off x="8859650" y="-8449"/>
            <a:ext cx="873604" cy="739969"/>
            <a:chOff x="0" y="0"/>
            <a:chExt cx="1164806" cy="986625"/>
          </a:xfrm>
        </p:grpSpPr>
        <p:sp>
          <p:nvSpPr>
            <p:cNvPr name="Freeform 7" id="7"/>
            <p:cNvSpPr/>
            <p:nvPr/>
          </p:nvSpPr>
          <p:spPr>
            <a:xfrm flipH="false" flipV="false" rot="0">
              <a:off x="0" y="0"/>
              <a:ext cx="1164844" cy="986663"/>
            </a:xfrm>
            <a:custGeom>
              <a:avLst/>
              <a:gdLst/>
              <a:ahLst/>
              <a:cxnLst/>
              <a:rect r="r" b="b" t="t" l="l"/>
              <a:pathLst>
                <a:path h="986663" w="1164844">
                  <a:moveTo>
                    <a:pt x="0" y="0"/>
                  </a:moveTo>
                  <a:lnTo>
                    <a:pt x="1164844" y="0"/>
                  </a:lnTo>
                  <a:lnTo>
                    <a:pt x="1164844" y="986663"/>
                  </a:lnTo>
                  <a:lnTo>
                    <a:pt x="0" y="986663"/>
                  </a:lnTo>
                  <a:lnTo>
                    <a:pt x="0" y="0"/>
                  </a:lnTo>
                  <a:close/>
                </a:path>
              </a:pathLst>
            </a:custGeom>
            <a:blipFill>
              <a:blip r:embed="rId3"/>
              <a:stretch>
                <a:fillRect l="0" t="-39" r="3" b="-37"/>
              </a:stretch>
            </a:blipFill>
          </p:spPr>
        </p:sp>
      </p:grpSp>
    </p:spTree>
  </p:cSld>
  <p:clrMapOvr>
    <a:masterClrMapping/>
  </p:clrMapOvr>
  <p:transition spd="fast">
    <p:fade/>
  </p:transition>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579120" y="1317755"/>
            <a:ext cx="8595360" cy="5658736"/>
          </a:xfrm>
          <a:prstGeom prst="rect">
            <a:avLst/>
          </a:prstGeom>
        </p:spPr>
        <p:txBody>
          <a:bodyPr anchor="t" rtlCol="false" tIns="0" lIns="0" bIns="0" rIns="0">
            <a:spAutoFit/>
          </a:bodyPr>
          <a:lstStyle/>
          <a:p>
            <a:pPr algn="just">
              <a:lnSpc>
                <a:spcPts val="2188"/>
              </a:lnSpc>
            </a:pPr>
            <a:r>
              <a:rPr lang="en-US" sz="1920">
                <a:solidFill>
                  <a:srgbClr val="000000"/>
                </a:solidFill>
                <a:latin typeface="Calibri (MS)"/>
                <a:ea typeface="Calibri (MS)"/>
                <a:cs typeface="Calibri (MS)"/>
                <a:sym typeface="Calibri (MS)"/>
              </a:rPr>
              <a:t>6.Li, Y., Li, Z., Zhang, Z., Zhang, S., Liu, Q., Song, J., Guo, Z., Wang, X., Zheng, H., Liu, Y., Luo, D., Ma, Z., Zhang, J., &amp; Bai, X. (2026). MonkeyOCRv2: A visual-text foundation model for document AI. arXiv preprint arXiv</a:t>
            </a:r>
          </a:p>
          <a:p>
            <a:pPr algn="just">
              <a:lnSpc>
                <a:spcPts val="2188"/>
              </a:lnSpc>
            </a:pPr>
            <a:r>
              <a:rPr lang="en-US" sz="1920">
                <a:solidFill>
                  <a:srgbClr val="000000"/>
                </a:solidFill>
                <a:latin typeface="Calibri (MS)"/>
                <a:ea typeface="Calibri (MS)"/>
                <a:cs typeface="Calibri (MS)"/>
                <a:sym typeface="Calibri (MS)"/>
              </a:rPr>
              <a:t>7. Lopez-Fuentes, L., van de Weijer, J., González-Hidalgo, M., Skinnemoen, H., &amp; Bagdanov, A. D. (2018). Review on computer vision techniques in emergency situations. Multimedia Tools and Applications, 77(1), 1–35.</a:t>
            </a:r>
          </a:p>
          <a:p>
            <a:pPr algn="just">
              <a:lnSpc>
                <a:spcPts val="2188"/>
              </a:lnSpc>
            </a:pPr>
            <a:r>
              <a:rPr lang="en-US" sz="1920">
                <a:solidFill>
                  <a:srgbClr val="000000"/>
                </a:solidFill>
                <a:latin typeface="Calibri (MS)"/>
                <a:ea typeface="Calibri (MS)"/>
                <a:cs typeface="Calibri (MS)"/>
                <a:sym typeface="Calibri (MS)"/>
              </a:rPr>
              <a:t>8. Mukhopadhyay, A., Pettet, G., Vazirizade, S. M., Lu, D., Jaimes, A., El Said, S., Baroud, H., Vorobeychik, Y., Kochenderfer, M., &amp; Dubey, A. (2021). A review of incident prediction, resource allocation, and dispatch models for emergency management. Accident Analysis &amp; Prevention, 165, 106501.</a:t>
            </a:r>
          </a:p>
          <a:p>
            <a:pPr algn="just">
              <a:lnSpc>
                <a:spcPts val="2188"/>
              </a:lnSpc>
            </a:pPr>
            <a:r>
              <a:rPr lang="en-US" sz="1920">
                <a:solidFill>
                  <a:srgbClr val="000000"/>
                </a:solidFill>
                <a:latin typeface="Calibri (MS)"/>
                <a:ea typeface="Calibri (MS)"/>
                <a:cs typeface="Calibri (MS)"/>
                <a:sym typeface="Calibri (MS)"/>
              </a:rPr>
              <a:t>9. Nourjou, R., Hatayama, M., Smith, S. F., Sadeghi, A., &amp; Szekely, P. (2014). Design of a GIS-based assistant software agent for the incident commander to coordinate emergency response operations. arXiv preprint arXiv</a:t>
            </a:r>
          </a:p>
          <a:p>
            <a:pPr algn="just">
              <a:lnSpc>
                <a:spcPts val="2188"/>
              </a:lnSpc>
            </a:pPr>
            <a:r>
              <a:rPr lang="en-US" sz="1920">
                <a:solidFill>
                  <a:srgbClr val="000000"/>
                </a:solidFill>
                <a:latin typeface="Calibri (MS)"/>
                <a:ea typeface="Calibri (MS)"/>
                <a:cs typeface="Calibri (MS)"/>
                <a:sym typeface="Calibri (MS)"/>
              </a:rPr>
              <a:t>10. Pettet, G., Baxter, H., Vazirizade, S. M., Purohit, H., Ma, M., Mukhopadhyay, A., &amp; Dubey, A. (2022). Designing decision support systems for emergency response: Challenges and opportunities. arXiv preprint arXiv</a:t>
            </a:r>
          </a:p>
        </p:txBody>
      </p:sp>
      <p:grpSp>
        <p:nvGrpSpPr>
          <p:cNvPr name="Group 3" id="3"/>
          <p:cNvGrpSpPr/>
          <p:nvPr/>
        </p:nvGrpSpPr>
        <p:grpSpPr>
          <a:xfrm rot="0">
            <a:off x="487680" y="292608"/>
            <a:ext cx="8778240" cy="1219200"/>
            <a:chOff x="0" y="0"/>
            <a:chExt cx="11704320" cy="1625600"/>
          </a:xfrm>
        </p:grpSpPr>
        <p:sp>
          <p:nvSpPr>
            <p:cNvPr name="Freeform 4" id="4"/>
            <p:cNvSpPr/>
            <p:nvPr/>
          </p:nvSpPr>
          <p:spPr>
            <a:xfrm flipH="false" flipV="false" rot="0">
              <a:off x="0" y="0"/>
              <a:ext cx="11704320" cy="1625600"/>
            </a:xfrm>
            <a:custGeom>
              <a:avLst/>
              <a:gdLst/>
              <a:ahLst/>
              <a:cxnLst/>
              <a:rect r="r" b="b" t="t" l="l"/>
              <a:pathLst>
                <a:path h="1625600" w="11704320">
                  <a:moveTo>
                    <a:pt x="0" y="0"/>
                  </a:moveTo>
                  <a:lnTo>
                    <a:pt x="11704320" y="0"/>
                  </a:lnTo>
                  <a:lnTo>
                    <a:pt x="11704320" y="1625600"/>
                  </a:lnTo>
                  <a:lnTo>
                    <a:pt x="0" y="1625600"/>
                  </a:lnTo>
                  <a:close/>
                </a:path>
              </a:pathLst>
            </a:custGeom>
            <a:blipFill>
              <a:blip r:embed="rId2">
                <a:alphaModFix amt="0"/>
              </a:blip>
              <a:stretch>
                <a:fillRect l="0" t="-90292" r="0" b="-90292"/>
              </a:stretch>
            </a:blipFill>
          </p:spPr>
        </p:sp>
        <p:sp>
          <p:nvSpPr>
            <p:cNvPr name="TextBox 5" id="5"/>
            <p:cNvSpPr txBox="true"/>
            <p:nvPr/>
          </p:nvSpPr>
          <p:spPr>
            <a:xfrm>
              <a:off x="0" y="-28575"/>
              <a:ext cx="11704320" cy="1654175"/>
            </a:xfrm>
            <a:prstGeom prst="rect">
              <a:avLst/>
            </a:prstGeom>
          </p:spPr>
          <p:txBody>
            <a:bodyPr anchor="ctr" rtlCol="false" tIns="0" lIns="0" bIns="0" rIns="0"/>
            <a:lstStyle/>
            <a:p>
              <a:pPr algn="ctr">
                <a:lnSpc>
                  <a:spcPts val="5631"/>
                </a:lnSpc>
              </a:pPr>
              <a:r>
                <a:rPr lang="en-US" sz="4693" b="true">
                  <a:solidFill>
                    <a:srgbClr val="FF0000"/>
                  </a:solidFill>
                  <a:latin typeface="Times New Roman Bold"/>
                  <a:ea typeface="Times New Roman Bold"/>
                  <a:cs typeface="Times New Roman Bold"/>
                  <a:sym typeface="Times New Roman Bold"/>
                </a:rPr>
                <a:t>References</a:t>
              </a:r>
            </a:p>
          </p:txBody>
        </p:sp>
      </p:grpSp>
      <p:grpSp>
        <p:nvGrpSpPr>
          <p:cNvPr name="Group 6" id="6"/>
          <p:cNvGrpSpPr/>
          <p:nvPr/>
        </p:nvGrpSpPr>
        <p:grpSpPr>
          <a:xfrm rot="0">
            <a:off x="8859650" y="-8449"/>
            <a:ext cx="873604" cy="739969"/>
            <a:chOff x="0" y="0"/>
            <a:chExt cx="1164806" cy="986625"/>
          </a:xfrm>
        </p:grpSpPr>
        <p:sp>
          <p:nvSpPr>
            <p:cNvPr name="Freeform 7" id="7"/>
            <p:cNvSpPr/>
            <p:nvPr/>
          </p:nvSpPr>
          <p:spPr>
            <a:xfrm flipH="false" flipV="false" rot="0">
              <a:off x="0" y="0"/>
              <a:ext cx="1164844" cy="986663"/>
            </a:xfrm>
            <a:custGeom>
              <a:avLst/>
              <a:gdLst/>
              <a:ahLst/>
              <a:cxnLst/>
              <a:rect r="r" b="b" t="t" l="l"/>
              <a:pathLst>
                <a:path h="986663" w="1164844">
                  <a:moveTo>
                    <a:pt x="0" y="0"/>
                  </a:moveTo>
                  <a:lnTo>
                    <a:pt x="1164844" y="0"/>
                  </a:lnTo>
                  <a:lnTo>
                    <a:pt x="1164844" y="986663"/>
                  </a:lnTo>
                  <a:lnTo>
                    <a:pt x="0" y="986663"/>
                  </a:lnTo>
                  <a:lnTo>
                    <a:pt x="0" y="0"/>
                  </a:lnTo>
                  <a:close/>
                </a:path>
              </a:pathLst>
            </a:custGeom>
            <a:blipFill>
              <a:blip r:embed="rId3"/>
              <a:stretch>
                <a:fillRect l="0" t="-39" r="3" b="-37"/>
              </a:stretch>
            </a:blipFill>
          </p:spPr>
        </p:sp>
      </p:grpSp>
    </p:spTree>
  </p:cSld>
  <p:clrMapOvr>
    <a:masterClrMapping/>
  </p:clrMapOvr>
  <p:transition spd="fast">
    <p:fade/>
  </p:transition>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497710" y="1557528"/>
            <a:ext cx="8676770" cy="5418572"/>
          </a:xfrm>
          <a:prstGeom prst="rect">
            <a:avLst/>
          </a:prstGeom>
        </p:spPr>
        <p:txBody>
          <a:bodyPr anchor="t" rtlCol="false" tIns="0" lIns="0" bIns="0" rIns="0">
            <a:spAutoFit/>
          </a:bodyPr>
          <a:lstStyle/>
          <a:p>
            <a:pPr algn="l">
              <a:lnSpc>
                <a:spcPts val="2047"/>
              </a:lnSpc>
            </a:pPr>
            <a:r>
              <a:rPr lang="en-US" sz="2133">
                <a:solidFill>
                  <a:srgbClr val="000000"/>
                </a:solidFill>
                <a:latin typeface="Calibri (MS)"/>
                <a:ea typeface="Calibri (MS)"/>
                <a:cs typeface="Calibri (MS)"/>
                <a:sym typeface="Calibri (MS)"/>
              </a:rPr>
              <a:t>11. Shi, G., Yu, J., Wu, C., Wang, S., Fukuzawa, E., Tang, J., Onoda, H., &amp; Liu, J. (2026). Video-text temporal localization via multi-scale convolution and dynamic routing. arXiv preprint arXi</a:t>
            </a:r>
          </a:p>
          <a:p>
            <a:pPr algn="l">
              <a:lnSpc>
                <a:spcPts val="2047"/>
              </a:lnSpc>
            </a:pPr>
          </a:p>
          <a:p>
            <a:pPr algn="l">
              <a:lnSpc>
                <a:spcPts val="2047"/>
              </a:lnSpc>
            </a:pPr>
            <a:r>
              <a:rPr lang="en-US" sz="2133">
                <a:solidFill>
                  <a:srgbClr val="000000"/>
                </a:solidFill>
                <a:latin typeface="Calibri (MS)"/>
                <a:ea typeface="Calibri (MS)"/>
                <a:cs typeface="Calibri (MS)"/>
                <a:sym typeface="Calibri (MS)"/>
              </a:rPr>
              <a:t>12. Wan Team, Alibaba Group. (2026). Wan: Video = World + Event Stream. arXiv preprint arXiv</a:t>
            </a:r>
          </a:p>
          <a:p>
            <a:pPr algn="l">
              <a:lnSpc>
                <a:spcPts val="2047"/>
              </a:lnSpc>
            </a:pPr>
          </a:p>
          <a:p>
            <a:pPr algn="l">
              <a:lnSpc>
                <a:spcPts val="2047"/>
              </a:lnSpc>
            </a:pPr>
            <a:r>
              <a:rPr lang="en-US" sz="2133">
                <a:solidFill>
                  <a:srgbClr val="000000"/>
                </a:solidFill>
                <a:latin typeface="Calibri (MS)"/>
                <a:ea typeface="Calibri (MS)"/>
                <a:cs typeface="Calibri (MS)"/>
                <a:sym typeface="Calibri (MS)"/>
              </a:rPr>
              <a:t>13. Wang, K., &amp; Zhang, C. (2026). MEMLEAK: Diagnosing information leaks in multimodal agent memory. arXiv preprint arXiv</a:t>
            </a:r>
          </a:p>
          <a:p>
            <a:pPr algn="l">
              <a:lnSpc>
                <a:spcPts val="2047"/>
              </a:lnSpc>
            </a:pPr>
          </a:p>
          <a:p>
            <a:pPr algn="l">
              <a:lnSpc>
                <a:spcPts val="2047"/>
              </a:lnSpc>
            </a:pPr>
            <a:r>
              <a:rPr lang="en-US" sz="2133">
                <a:solidFill>
                  <a:srgbClr val="000000"/>
                </a:solidFill>
                <a:latin typeface="Calibri (MS)"/>
                <a:ea typeface="Calibri (MS)"/>
                <a:cs typeface="Calibri (MS)"/>
                <a:sym typeface="Calibri (MS)"/>
              </a:rPr>
              <a:t>14. World Narrative Model Team. (2026). World narrative model for highly controllable video generation: A paradigm shift from pixel sampling to physical world orchestration. arXiv preprint arXiv</a:t>
            </a:r>
          </a:p>
          <a:p>
            <a:pPr algn="l">
              <a:lnSpc>
                <a:spcPts val="2047"/>
              </a:lnSpc>
            </a:pPr>
          </a:p>
          <a:p>
            <a:pPr algn="l">
              <a:lnSpc>
                <a:spcPts val="2047"/>
              </a:lnSpc>
            </a:pPr>
            <a:r>
              <a:rPr lang="en-US" sz="2133">
                <a:solidFill>
                  <a:srgbClr val="000000"/>
                </a:solidFill>
                <a:latin typeface="Calibri (MS)"/>
                <a:ea typeface="Calibri (MS)"/>
                <a:cs typeface="Calibri (MS)"/>
                <a:sym typeface="Calibri (MS)"/>
              </a:rPr>
              <a:t>15. Yasuno, T. (2026). RAPTOR-AI for disaster OODA loop: Hierarchical multimodal RAG with experience-driven agentic decision-making. arXiv preprint arXiv</a:t>
            </a:r>
          </a:p>
        </p:txBody>
      </p:sp>
      <p:grpSp>
        <p:nvGrpSpPr>
          <p:cNvPr name="Group 3" id="3"/>
          <p:cNvGrpSpPr/>
          <p:nvPr/>
        </p:nvGrpSpPr>
        <p:grpSpPr>
          <a:xfrm rot="0">
            <a:off x="487680" y="292608"/>
            <a:ext cx="8778240" cy="1219200"/>
            <a:chOff x="0" y="0"/>
            <a:chExt cx="11704320" cy="1625600"/>
          </a:xfrm>
        </p:grpSpPr>
        <p:sp>
          <p:nvSpPr>
            <p:cNvPr name="Freeform 4" id="4"/>
            <p:cNvSpPr/>
            <p:nvPr/>
          </p:nvSpPr>
          <p:spPr>
            <a:xfrm flipH="false" flipV="false" rot="0">
              <a:off x="0" y="0"/>
              <a:ext cx="11704320" cy="1625600"/>
            </a:xfrm>
            <a:custGeom>
              <a:avLst/>
              <a:gdLst/>
              <a:ahLst/>
              <a:cxnLst/>
              <a:rect r="r" b="b" t="t" l="l"/>
              <a:pathLst>
                <a:path h="1625600" w="11704320">
                  <a:moveTo>
                    <a:pt x="0" y="0"/>
                  </a:moveTo>
                  <a:lnTo>
                    <a:pt x="11704320" y="0"/>
                  </a:lnTo>
                  <a:lnTo>
                    <a:pt x="11704320" y="1625600"/>
                  </a:lnTo>
                  <a:lnTo>
                    <a:pt x="0" y="1625600"/>
                  </a:lnTo>
                  <a:close/>
                </a:path>
              </a:pathLst>
            </a:custGeom>
            <a:blipFill>
              <a:blip r:embed="rId2">
                <a:alphaModFix amt="0"/>
              </a:blip>
              <a:stretch>
                <a:fillRect l="0" t="-90292" r="0" b="-90292"/>
              </a:stretch>
            </a:blipFill>
          </p:spPr>
        </p:sp>
        <p:sp>
          <p:nvSpPr>
            <p:cNvPr name="TextBox 5" id="5"/>
            <p:cNvSpPr txBox="true"/>
            <p:nvPr/>
          </p:nvSpPr>
          <p:spPr>
            <a:xfrm>
              <a:off x="0" y="-28575"/>
              <a:ext cx="11704320" cy="1654175"/>
            </a:xfrm>
            <a:prstGeom prst="rect">
              <a:avLst/>
            </a:prstGeom>
          </p:spPr>
          <p:txBody>
            <a:bodyPr anchor="ctr" rtlCol="false" tIns="0" lIns="0" bIns="0" rIns="0"/>
            <a:lstStyle/>
            <a:p>
              <a:pPr algn="ctr">
                <a:lnSpc>
                  <a:spcPts val="5631"/>
                </a:lnSpc>
              </a:pPr>
              <a:r>
                <a:rPr lang="en-US" sz="4693" b="true">
                  <a:solidFill>
                    <a:srgbClr val="FF0000"/>
                  </a:solidFill>
                  <a:latin typeface="Times New Roman Bold"/>
                  <a:ea typeface="Times New Roman Bold"/>
                  <a:cs typeface="Times New Roman Bold"/>
                  <a:sym typeface="Times New Roman Bold"/>
                </a:rPr>
                <a:t>References</a:t>
              </a:r>
            </a:p>
          </p:txBody>
        </p:sp>
      </p:grpSp>
      <p:grpSp>
        <p:nvGrpSpPr>
          <p:cNvPr name="Group 6" id="6"/>
          <p:cNvGrpSpPr/>
          <p:nvPr/>
        </p:nvGrpSpPr>
        <p:grpSpPr>
          <a:xfrm rot="0">
            <a:off x="8859650" y="-8449"/>
            <a:ext cx="873604" cy="739969"/>
            <a:chOff x="0" y="0"/>
            <a:chExt cx="1164806" cy="986625"/>
          </a:xfrm>
        </p:grpSpPr>
        <p:sp>
          <p:nvSpPr>
            <p:cNvPr name="Freeform 7" id="7"/>
            <p:cNvSpPr/>
            <p:nvPr/>
          </p:nvSpPr>
          <p:spPr>
            <a:xfrm flipH="false" flipV="false" rot="0">
              <a:off x="0" y="0"/>
              <a:ext cx="1164844" cy="986663"/>
            </a:xfrm>
            <a:custGeom>
              <a:avLst/>
              <a:gdLst/>
              <a:ahLst/>
              <a:cxnLst/>
              <a:rect r="r" b="b" t="t" l="l"/>
              <a:pathLst>
                <a:path h="986663" w="1164844">
                  <a:moveTo>
                    <a:pt x="0" y="0"/>
                  </a:moveTo>
                  <a:lnTo>
                    <a:pt x="1164844" y="0"/>
                  </a:lnTo>
                  <a:lnTo>
                    <a:pt x="1164844" y="986663"/>
                  </a:lnTo>
                  <a:lnTo>
                    <a:pt x="0" y="986663"/>
                  </a:lnTo>
                  <a:lnTo>
                    <a:pt x="0" y="0"/>
                  </a:lnTo>
                  <a:close/>
                </a:path>
              </a:pathLst>
            </a:custGeom>
            <a:blipFill>
              <a:blip r:embed="rId3"/>
              <a:stretch>
                <a:fillRect l="0" t="-39" r="3" b="-37"/>
              </a:stretch>
            </a:blipFill>
          </p:spPr>
        </p:sp>
      </p:grpSp>
    </p:spTree>
  </p:cSld>
  <p:clrMapOvr>
    <a:masterClrMapping/>
  </p:clrMapOvr>
  <p:transition spd="fast">
    <p:fade/>
  </p:transition>
</p:sld>
</file>

<file path=ppt/slides/slide2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471632" y="3350581"/>
            <a:ext cx="6728927" cy="750208"/>
          </a:xfrm>
          <a:prstGeom prst="rect">
            <a:avLst/>
          </a:prstGeom>
        </p:spPr>
        <p:txBody>
          <a:bodyPr anchor="t" rtlCol="false" tIns="0" lIns="0" bIns="0" rIns="0">
            <a:spAutoFit/>
          </a:bodyPr>
          <a:lstStyle/>
          <a:p>
            <a:pPr algn="ctr">
              <a:lnSpc>
                <a:spcPts val="5631"/>
              </a:lnSpc>
            </a:pPr>
            <a:r>
              <a:rPr lang="en-US" sz="4693" b="true">
                <a:solidFill>
                  <a:srgbClr val="FF0000"/>
                </a:solidFill>
                <a:latin typeface="Times New Roman Bold"/>
                <a:ea typeface="Times New Roman Bold"/>
                <a:cs typeface="Times New Roman Bold"/>
                <a:sym typeface="Times New Roman Bold"/>
              </a:rPr>
              <a:t>Thank You</a:t>
            </a:r>
          </a:p>
        </p:txBody>
      </p:sp>
    </p:spTree>
  </p:cSld>
  <p:clrMapOvr>
    <a:masterClrMapping/>
  </p:clrMapOvr>
  <p:transition spd="fast">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DAHQEdA-EXQ</dc:identifier>
  <dcterms:modified xsi:type="dcterms:W3CDTF">2011-08-01T06:04:30Z</dcterms:modified>
  <cp:revision>1</cp:revision>
  <dc:title>MMAI PPT -SAMPLE.ppt</dc:title>
</cp:coreProperties>
</file>